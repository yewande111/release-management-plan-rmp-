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"Good morning/afternoon everyone. Today I'll be presenting our Release Management Plan for an enterprise-style CI/CD deployment of a microservice-based Recipe Management Application.</a:t>
            </a:r>
          </a:p>
          <a:p/>
          <a:p>
            <a:r>
              <a:t>This project demonstrates a complete end-to-end deployment pipeline — from code commit through to production — using industry-standard tools and best practices.</a:t>
            </a:r>
          </a:p>
          <a:p/>
          <a:p>
            <a:r>
              <a:t>I'll walk you through the architecture, our CI/CD pipeline design, deployment strategy, infrastructure as code, and then critically evaluate our decisions against eleven criteria."</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what we'll cover today. I'll start with the system architecture — what services we built and how they communicate. Then I'll show you a live demo of the running application.</a:t>
            </a:r>
          </a:p>
          <a:p/>
          <a:p>
            <a:r>
              <a:t>After that, we'll go deeper into the technical decisions: our branching strategy, CI/CD pipeline, blue/green deployment, Terraform infrastructure, and Kubernetes orchestration.</a:t>
            </a:r>
          </a:p>
          <a:p/>
          <a:p>
            <a:r>
              <a:t>The bulk of the presentation evaluates our choices against eleven criteria — performance, cost, security, scaling, and more. I'll finish with a critical reflection on what worked well and what we'd improve.</a:t>
            </a:r>
          </a:p>
          <a:p/>
          <a:p>
            <a:r>
              <a:t>Let's get started."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"Our application follows a classic three-tier microservice architecture.</a:t>
            </a:r>
          </a:p>
          <a:p/>
          <a:p>
            <a:r>
              <a:t>The Frontend is built with Node.js 20 and Express, using EJS for server-side rendering. It serves the web UI on port 3000 and proxies all API requests to the backend.</a:t>
            </a:r>
          </a:p>
          <a:p/>
          <a:p>
            <a:r>
              <a:t>The Backend is a Java 17 Spring Boot 3 REST API running on port 8080. It handles all CRUD operations, input validation, and business logic for recipe management.</a:t>
            </a:r>
          </a:p>
          <a:p/>
          <a:p>
            <a:r>
              <a:t>The Database is MongoDB 7, storing recipes as BSON documents.</a:t>
            </a:r>
          </a:p>
          <a:p/>
          <a:p>
            <a:r>
              <a:t>Communication between frontend and backend is synchronous HTTP/JSON. Between the backend and database, it uses the standard MongoDB wire protocol.</a:t>
            </a:r>
          </a:p>
          <a:p/>
          <a:p>
            <a:r>
              <a:t>Critically, each service is independently buildable and deployable — which is the defining characteristic of a microservice architecture. The frontend can be updated without touching the backend, and vice versa."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the frontend of our application running locally at localhost:3000 via Docker Compose.</a:t>
            </a:r>
          </a:p>
          <a:p/>
          <a:p>
            <a:r>
              <a:t>You can see the Recipe Manager interface — it has a form to add new recipes with a title, ingredients, and step-by-step instructions. Below the form, we have the recipe listing area, currently showing zero recipes.</a:t>
            </a:r>
          </a:p>
          <a:p/>
          <a:p>
            <a:r>
              <a:t>The UI is server-side rendered using EJS templates. The frontend communicates with the Spring Boot backend API to create, read, update, and delete recipes.</a:t>
            </a:r>
          </a:p>
          <a:p/>
          <a:p>
            <a:r>
              <a:t>Important to note — this is running in Docker. A single 'docker-compose up --build' starts all three services: the frontend, the backend, and MongoDB. No local Java, Node.js, or MongoDB installation is required."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"And here's the backend API, accessible directly at localhost:8080/api/recipes.</a:t>
            </a:r>
          </a:p>
          <a:p/>
          <a:p>
            <a:r>
              <a:t>It returns a JSON array — currently empty because we haven't added any recipes yet. This empty array response actually confirms two important things: the Spring Boot API is running correctly, AND it has successfully connected to the MongoDB database.</a:t>
            </a:r>
          </a:p>
          <a:p/>
          <a:p>
            <a:r>
              <a:t>The API is fully RESTful — it supports GET, POST, PUT, and DELETE operations. Spring Data MongoDB handles the object-document mapping so we don't write any manual queries.</a:t>
            </a:r>
          </a:p>
          <a:p/>
          <a:p>
            <a:r>
              <a:t>The backend also exposes health and metrics endpoints via Spring Boot Actuator. The /actuator/health endpoint is what Kubernetes uses for readiness probes — it only sends traffic to pods that report healthy. The /actuator/prometheus endpoint exposes metrics in Prometheus format for our monitoring stack."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"We chose a mono-repo structure — both services, all infrastructure code, Helm charts, and CI/CD workflows live in a single repository.</a:t>
            </a:r>
          </a:p>
          <a:p/>
          <a:p>
            <a:r>
              <a:t>For a two-service application, this gives us the best developer experience: a single clone, complete visibility, and the ability to make atomic cross-service changes in one commit. Path-based CI triggers in GitHub Actions ensure that the frontend pipeline only runs when frontend code changes, and likewise for the backend.</a:t>
            </a:r>
          </a:p>
          <a:p/>
          <a:p>
            <a:r>
              <a:t>For branching, we follow GitHub Flow — a simple model with main as production-ready, a develop branch for integration, and feature branches for individual work.</a:t>
            </a:r>
          </a:p>
          <a:p/>
          <a:p>
            <a:r>
              <a:t>Pull requests into main have three gates: all CI checks must pass, the Trivy vulnerability scan must report no critical CVEs, and at least one code review approval is required.</a:t>
            </a:r>
          </a:p>
          <a:p/>
          <a:p>
            <a:r>
              <a:t>One critique here: GitHub Flow assumes main is always deployable, which requires strong CI discipline. For less mature teams, GitFlow with explicit release branches would be safer."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"Our CI/CD architecture has three independent pipelines — two for continuous integration and one for continuous delivery.</a:t>
            </a:r>
          </a:p>
          <a:p/>
          <a:p>
            <a:r>
              <a:t>Each service has its own CI pipeline. The frontend pipeline triggers only when files under services/frontend change. It installs dependencies, runs ESLint and Jest tests, builds a Docker image using a multi-stage build, runs a Trivy vulnerability scan — which will fail the build on any CRITICAL CVE — and then pushes the image to Azure Container Registry tagged with the Git commit SHA.</a:t>
            </a:r>
          </a:p>
          <a:p/>
          <a:p>
            <a:r>
              <a:t>The backend pipeline follows the same pattern but with Java: Maven compile and verify, Docker build, Trivy scan, and ACR push.</a:t>
            </a:r>
          </a:p>
          <a:p/>
          <a:p>
            <a:r>
              <a:t>The CD pipeline is triggered when either CI pipeline completes on main. It logs into Azure, gets AKS credentials, automatically detects which slot — blue or green — is currently inactive, deploys all services to that inactive slot using Helm, waits for health checks to pass, then switches traffic by patching the Kubernetes service selector.</a:t>
            </a:r>
          </a:p>
          <a:p/>
          <a:p>
            <a:r>
              <a:t>A critical design decision: image tags are Git SHAs, not version numbers. This means every running container maps directly to an exact code commit — essential for debugging and auditing."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"For deployment, we evaluated four strategies. Let me walk through why we chose blue/green.</a:t>
            </a:r>
          </a:p>
          <a:p/>
          <a:p>
            <a:r>
              <a:t>Recreate was immediately rejected — it has downtime, which is unacceptable. Rolling update is simple but has two problems: rollback requires a full redeployment, and during the rollback you have mixed versions serving traffic simultaneously.</a:t>
            </a:r>
          </a:p>
          <a:p/>
          <a:p>
            <a:r>
              <a:t>Canary is sophisticated — routing a percentage of traffic to the new version — but it requires a service mesh like Istio, which adds disproportionate complexity for our two-service application.</a:t>
            </a:r>
          </a:p>
          <a:p/>
          <a:p>
            <a:r>
              <a:t>Blue/green hits the sweet spot. Here's how it works: we automatically detect which slot is inactive, deploy the new version there, wait for health checks, then atomically switch traffic by patching the Kubernetes Service selector. The old version's pods remain running on the now-inactive slot.</a:t>
            </a:r>
          </a:p>
          <a:p/>
          <a:p>
            <a:r>
              <a:t>The killer feature is rollback speed. If something goes wrong, we patch the selector back to the previous slot — that's a metadata-only operation. No image pulls, no scheduling, no waiting. Under ten seconds to full rollback.</a:t>
            </a:r>
          </a:p>
          <a:p/>
          <a:p>
            <a:r>
              <a:t>The trade-off is resource cost — you're running double the pods during deployment. For our application scale, this is acceptable."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"All infrastructure is provisioned via Terraform — nothing is created manually in the Azure portal.</a:t>
            </a:r>
          </a:p>
          <a:p/>
          <a:p>
            <a:r>
              <a:t>We evaluated three IaC tools. Bicep is excellent for Azure-only workloads and always has day-one support for new Azure features. Pulumi lets you use real programming languages. But we chose Terraform for three reasons: multi-cloud portability, explicit state management that enables reliable plan and destroy operations, and the largest community ecosystem.</a:t>
            </a:r>
          </a:p>
          <a:p/>
          <a:p>
            <a:r>
              <a:t>Our Terraform configuration provisions everything you see here: the resource group, a virtual network with a dedicated subnet, an AKS cluster configured with 1-to-5 node autoscaling on burstable B2s VMs, Azure Container Registry, Log Analytics for monitoring, and blob storage for backups. It also creates the role assignment that allows AKS to pull images from ACR using managed identity — no service principal secrets to rotate.</a:t>
            </a:r>
          </a:p>
          <a:p/>
          <a:p>
            <a:r>
              <a:t>A key capability: we can run terraform destroy to tear down everything, then terraform apply to rebuild it identically in about 15 to 20 minutes. This proves our IaC is complete and self-contained — nothing exists that isn't in code."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"For container orchestration, we use Azure Kubernetes Service — AKS.</a:t>
            </a:r>
          </a:p>
          <a:p/>
          <a:p>
            <a:r>
              <a:t>Our cluster runs Kubernetes 1.29 on Standard B2s burstable VMs — cost-effective at 2 vCPUs and 4 GB RAM each. We start with 2 nodes and the cluster autoscaler can scale up to 5 nodes when demand requires it.</a:t>
            </a:r>
          </a:p>
          <a:p/>
          <a:p>
            <a:r>
              <a:t>We use Azure CNI for networking, which gives each pod a real VNet IP address — this is required for Calico network policies that control pod-to-pod traffic. Authentication uses system-assigned managed identity, meaning there are no service principal secrets to manage or rotate.</a:t>
            </a:r>
          </a:p>
          <a:p/>
          <a:p>
            <a:r>
              <a:t>Application packaging uses Helm 3 with three charts: frontend, backend, and MongoDB. Each chart produces the Kubernetes resources for its service. The frontend uses a LoadBalancer Service for external traffic. The backend uses ClusterIP — it's internal only. MongoDB uses a StatefulSet with persistent volume claims and a CronJob for automated daily backups.</a:t>
            </a:r>
          </a:p>
          <a:p/>
          <a:p>
            <a:r>
              <a:t>We chose Helm over Kustomize because Helm's Go templating, release history tracking, and rollback capability — helm rollback — give us better deployment management. The blue/green slot label is a simple Helm value that gets injected at deploy time."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"Let's look at performance. The frontend starts in about 1 second — Node.js is fast to boot. The backend takes 15 to 30 seconds due to JVM and Spring Boot startup. Once warm, latency is excellent: under 50 milliseconds for the frontend, under 20 for the backend.</a:t>
            </a:r>
          </a:p>
          <a:p/>
          <a:p>
            <a:r>
              <a:t>We achieve small image sizes through multi-stage Docker builds — the frontend is about 80 MB, the backend about 150 MB. Smaller images mean faster pod startup and less registry storage.</a:t>
            </a:r>
          </a:p>
          <a:p/>
          <a:p>
            <a:r>
              <a:t>For monitoring, both services expose Prometheus-format metrics. The AKS OMS agent forwards container logs and metrics to Azure Log Analytics. We've defined five alert conditions — the two critical ones are pod restart loops and MongoDB connection failures.</a:t>
            </a:r>
          </a:p>
          <a:p/>
          <a:p>
            <a:r>
              <a:t>A key critique: the JVM cold start is a real concern in a Kubernetes environment where pods can be rescheduled at any time. We mitigate this with readiness probes — Kubernetes won't send traffic until the pod is healthy — and by maintaining a minimum of 2 replicas. For production, GraalVM native image compilation could reduce startup to under 1 second."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"For scaling, we implement Horizontal Pod Autoscaling on both the frontend and backend. The frontend scales from 2 to 10 pods, the backend from 2 to 8. Both use multi-metric scaling based on CPU at 70 percent and memory at 80 percent.</a:t>
            </a:r>
          </a:p>
          <a:p/>
          <a:p>
            <a:r>
              <a:t>At the infrastructure level, the AKS cluster autoscaler manages node count from 1 to 5. It adds nodes when pods are pending due to insufficient resources and removes them after 10 minutes of idle time.</a:t>
            </a:r>
          </a:p>
          <a:p/>
          <a:p>
            <a:r>
              <a:t>A key limitation: MongoDB is a single instance with no replication. For production, we'd need either a MongoDB Replica Set for high availability or migrate to Azure Cosmos DB for MongoDB API, which provides built-in replication and geo-distribution.</a:t>
            </a:r>
          </a:p>
          <a:p/>
          <a:p>
            <a:r>
              <a:t>For backup, a Kubernetes CronJob runs mongodump every night at 2 AM UTC, compresses the output, and maintains a 7-day rolling window. Our RPO is 24 hours — meaning we accept up to one day of data loss — and our RTO is 1 hour to restore and redeploy.</a:t>
            </a:r>
          </a:p>
          <a:p/>
          <a:p>
            <a:r>
              <a:t>A critique: these backups currently reside inside the pod. They should be uploaded to Azure Blob Storage for durability, and we should test restores monthly to verify they actually work."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"Security is implemented as defence in depth — multiple layers, each providing protection even if another fails.</a:t>
            </a:r>
          </a:p>
          <a:p/>
          <a:p>
            <a:r>
              <a:t>At the network layer, AKS runs on a dedicated subnet within a VNet, and Calico network policies control which pods can communicate with which.</a:t>
            </a:r>
          </a:p>
          <a:p/>
          <a:p>
            <a:r>
              <a:t>At the container level, all containers run as non-root users. We create a dedicated appuser in each Dockerfile and set runAsNonRoot in the Kubernetes security context. We use Alpine-based images with just a 5 megabyte base layer — smaller images mean fewer potential vulnerabilities.</a:t>
            </a:r>
          </a:p>
          <a:p/>
          <a:p>
            <a:r>
              <a:t>The registry uses managed identity, not admin credentials — no passwords to leak or rotate.</a:t>
            </a:r>
          </a:p>
          <a:p/>
          <a:p>
            <a:r>
              <a:t>At the application level, the frontend uses Helmet.js for security headers — HSTS, Content Security Policy, X-Frame-Options. The backend uses Jakarta Bean Validation for input validation. Rate limiting is applied at 100 requests per 15 minutes.</a:t>
            </a:r>
          </a:p>
          <a:p/>
          <a:p>
            <a:r>
              <a:t>And for supply chain security, Trivy scans every Docker image in CI. Any CRITICAL vulnerability fails the build.</a:t>
            </a:r>
          </a:p>
          <a:p/>
          <a:p>
            <a:r>
              <a:t>For production, we'd add explicit NetworkPolicy manifests, Azure Key Vault for secrets management, a WAF via Application Gateway, and TLS certificates via cert-manager with Let's Encrypt."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"Let's talk cost. In development, our estimated monthly spend is about 75 dollars. The AKS control plane is free-tier, and we use burstable B2s VMs that cost about 30 dollars each.</a:t>
            </a:r>
          </a:p>
          <a:p/>
          <a:p>
            <a:r>
              <a:t>In production, with Standard-tier AKS for the SLA guarantee and larger D2s v3 nodes, we're looking at about 345 dollars per month.</a:t>
            </a:r>
          </a:p>
          <a:p/>
          <a:p>
            <a:r>
              <a:t>All our application tooling — Terraform, Helm, GitHub Actions, Docker — is either open-source or free-tier.</a:t>
            </a:r>
          </a:p>
          <a:p/>
          <a:p>
            <a:r>
              <a:t>For optimisation, the biggest win is scheduled teardown. If we destroy non-prod environments overnight and on weekends, we save roughly 65 percent on compute. Spot instances can offer up to 90 percent discount for workloads that tolerate interruption. Reserved instances give 30 to 60 percent savings for committed usage.</a:t>
            </a:r>
          </a:p>
          <a:p/>
          <a:p>
            <a:r>
              <a:t>An honest alternative: for a low-traffic application like this, Azure Container Apps with consumption pricing would cost just 10 to 20 dollars per month. We chose AKS for the learning value and fine-grained control, but Container Apps would be more cost-effective at this scale."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"Vulnerability scanning uses Trivy — it's free, open-source, and scans both OS packages and language-specific dependencies. We chose it over Docker Scout and Snyk because it also handles IaC scanning and license scanning, all at no cost.</a:t>
            </a:r>
          </a:p>
          <a:p/>
          <a:p>
            <a:r>
              <a:t>Our severity policy is simple: any CRITICAL vulnerability fails the build immediately. HIGH severity issues get a warning in the logs but don't block. Medium and low are informational.</a:t>
            </a:r>
          </a:p>
          <a:p/>
          <a:p>
            <a:r>
              <a:t>One limitation: Trivy only scans at build time. For continuous scanning of images already in the registry, we'd enable Microsoft Defender for ACR.</a:t>
            </a:r>
          </a:p>
          <a:p/>
          <a:p>
            <a:r>
              <a:t>On sustainability — data centres account for about 1 to 1.5 percent of global electricity use, so resource efficiency matters. We use burstable VMs that consume less baseline energy, autoscaling that only provisions resources when demand requires them, Alpine-based images that minimise storage and network transfer, and we target Azure regions powered by renewable energy.</a:t>
            </a:r>
          </a:p>
          <a:p/>
          <a:p>
            <a:r>
              <a:t>The most impactful measure is automated environment teardown — destroying non-production infrastructure outside working hours saves approximately 65 percent of compute costs and the associated energy consumption."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"Our rollback plan has four tiers, each escalating in scope and recovery time.</a:t>
            </a:r>
          </a:p>
          <a:p/>
          <a:p>
            <a:r>
              <a:t>Tier 1 is our instant rollback — a simple kubectl patch that switches the service selector back to the previous slot. Under 10 seconds. This handles the most common scenario: you deployed a new version, something's wrong, switch back immediately.</a:t>
            </a:r>
          </a:p>
          <a:p/>
          <a:p>
            <a:r>
              <a:t>Tier 2 is Helm rollback — it reverts to the previous Helm release, including any configuration changes. Under 60 seconds.</a:t>
            </a:r>
          </a:p>
          <a:p/>
          <a:p>
            <a:r>
              <a:t>Tier 3 redeploys a specific previous image tag — useful when you need to go back multiple versions. About 5 minutes including health checks.</a:t>
            </a:r>
          </a:p>
          <a:p/>
          <a:p>
            <a:r>
              <a:t>Tier 4 is the nuclear option — a full infrastructure rebuild from Terraform. This takes 15 to 30 minutes but handles scenarios like infrastructure compromise or corruption.</a:t>
            </a:r>
          </a:p>
          <a:p/>
          <a:p>
            <a:r>
              <a:t>For change management, we enforce a strict principle: no manual changes are permitted. Every configuration type has a single source of truth in code, and a single authorised mechanism to apply it. Azure resources come from Terraform. Kubernetes workloads come from Helm. Application config comes from values.yaml. This eliminates configuration drift — the actual state always matches the code."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"Beyond the core requirements, we implemented four additional features.</a:t>
            </a:r>
          </a:p>
          <a:p/>
          <a:p>
            <a:r>
              <a:t>First, automated MongoDB backups via a Kubernetes CronJob. It runs mongodump every night at 2 AM UTC, compresses the output, and automatically cleans up backups older than 7 days.</a:t>
            </a:r>
          </a:p>
          <a:p/>
          <a:p>
            <a:r>
              <a:t>Second, Horizontal Pod Autoscaling using the v2 API with multi-metric scaling. Both CPU and memory utilisation drive scaling decisions, not just CPU. The frontend can scale from 2 to 10 pods, the backend from 2 to 8.</a:t>
            </a:r>
          </a:p>
          <a:p/>
          <a:p>
            <a:r>
              <a:t>Third, container vulnerability scanning with Trivy, integrated directly into the CI pipeline. It scans both operating system packages and language-specific dependencies, and any CRITICAL CVE immediately fails the build.</a:t>
            </a:r>
          </a:p>
          <a:p/>
          <a:p>
            <a:r>
              <a:t>And fourth, blue/green zero-downtime deployment with automatic slot detection. The CD pipeline determines which slot is inactive, deploys there, validates health, and then atomically switches traffic. Rollback is instant — under 10 seconds."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 me reflect critically on what we've built.</a:t>
            </a:r>
          </a:p>
          <a:p/>
          <a:p>
            <a:r>
              <a:t>On the strengths side: we achieved complete automation — there are zero manual steps from code commit to production. Each service has its own CI pipeline triggered by path filters. Our blue/green deployment gives us sub-10-second rollback capability. Security is built in by default, not bolted on after. And the system is observable with Prometheus metrics and structured logging flowing to Azure Monitor.</a:t>
            </a:r>
          </a:p>
          <a:p/>
          <a:p>
            <a:r>
              <a:t>But there are real limitations. MongoDB is a single instance — a failure loses the database. Production needs a Replica Set or a managed service like Cosmos DB. We have no integration or end-to-end tests — the pipeline only runs unit tests. There's no service mesh, so we can't do canary deployments or mutual TLS between services. We don't use GitOps — ArgoCD or Flux would provide continuous state reconciliation. Rollback is currently manual — ideally it should trigger automatically when error rates spike post-deployment. And there's no authentication at all — production would need Azure AD integration.</a:t>
            </a:r>
          </a:p>
          <a:p/>
          <a:p>
            <a:r>
              <a:t>The key takeaway: microservices are significantly harder to deploy than monoliths. But with the right tooling — Terraform, Helm, and GitHub Actions — that complexity can be fully managed through code and automation. The proof is that we can destroy everything and rebuild it identically from code alone."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"Thank you all for listening. I'd be happy to take any questions.</a:t>
            </a:r>
          </a:p>
          <a:p/>
          <a:p>
            <a:r>
              <a:t>If you'd like to explore the code, the full repository is on GitHub at the link shown. Everything we discussed today — the application code, Docker configurations, Terraform infrastructure, Helm charts, CI/CD workflows, and operational scripts — is all there.</a:t>
            </a:r>
          </a:p>
          <a:p/>
          <a:p>
            <a:r>
              <a:t>Does anyone have questions about the architecture, the deployment strategy, or any of the evaluation criteria we covered?"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spcAft>
                <a:spcPts val="400"/>
              </a:spcAft>
              <a:defRPr sz="4400" b="1" i="0">
                <a:solidFill>
                  <a:srgbClr val="FFFFFF"/>
                </a:solidFill>
                <a:latin typeface="Calibri"/>
              </a:defRPr>
            </a:pPr>
            <a:r>
              <a:t>Release Management Plan</a:t>
            </a:r>
          </a:p>
        </p:txBody>
      </p:sp>
      <p:sp>
        <p:nvSpPr>
          <p:cNvPr id="3" name="Rectangle 2"/>
          <p:cNvSpPr/>
          <p:nvPr/>
        </p:nvSpPr>
        <p:spPr>
          <a:xfrm>
            <a:off x="3657600" y="2560320"/>
            <a:ext cx="48737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10058400" cy="731520"/>
          </a:xfrm>
          <a:prstGeom prst="rect">
            <a:avLst/>
          </a:prstGeom>
          <a:noFill/>
        </p:spPr>
        <p:txBody>
          <a:bodyPr wrap="square">
            <a:spAutoFit/>
          </a:bodyPr>
          <a:lstStyle/>
          <a:p>
            <a:pPr algn="ctr">
              <a:spcAft>
                <a:spcPts val="400"/>
              </a:spcAft>
              <a:defRPr sz="2400" b="0" i="0">
                <a:solidFill>
                  <a:srgbClr val="93C5FD"/>
                </a:solidFill>
                <a:latin typeface="Calibri"/>
              </a:defRPr>
            </a:pPr>
            <a:r>
              <a:t>Enterprise Microservice CI/CD Deployment</a:t>
            </a:r>
          </a:p>
        </p:txBody>
      </p:sp>
      <p:sp>
        <p:nvSpPr>
          <p:cNvPr id="5" name="TextBox 4"/>
          <p:cNvSpPr txBox="1"/>
          <p:nvPr/>
        </p:nvSpPr>
        <p:spPr>
          <a:xfrm>
            <a:off x="914400" y="3474720"/>
            <a:ext cx="10058400" cy="548640"/>
          </a:xfrm>
          <a:prstGeom prst="rect">
            <a:avLst/>
          </a:prstGeom>
          <a:noFill/>
        </p:spPr>
        <p:txBody>
          <a:bodyPr wrap="square">
            <a:spAutoFit/>
          </a:bodyPr>
          <a:lstStyle/>
          <a:p>
            <a:pPr algn="ctr">
              <a:spcAft>
                <a:spcPts val="400"/>
              </a:spcAft>
              <a:defRPr sz="2000" b="0" i="0">
                <a:solidFill>
                  <a:srgbClr val="AAAAAA"/>
                </a:solidFill>
                <a:latin typeface="Calibri"/>
              </a:defRPr>
            </a:pPr>
            <a:r>
              <a:t>Recipe Management Application</a:t>
            </a:r>
          </a:p>
        </p:txBody>
      </p:sp>
      <p:sp>
        <p:nvSpPr>
          <p:cNvPr id="6" name="TextBox 5"/>
          <p:cNvSpPr txBox="1"/>
          <p:nvPr/>
        </p:nvSpPr>
        <p:spPr>
          <a:xfrm>
            <a:off x="914400" y="4754880"/>
            <a:ext cx="10058400" cy="457200"/>
          </a:xfrm>
          <a:prstGeom prst="rect">
            <a:avLst/>
          </a:prstGeom>
          <a:noFill/>
        </p:spPr>
        <p:txBody>
          <a:bodyPr wrap="square">
            <a:spAutoFit/>
          </a:bodyPr>
          <a:lstStyle/>
          <a:p>
            <a:pPr algn="ctr">
              <a:spcAft>
                <a:spcPts val="400"/>
              </a:spcAft>
              <a:defRPr sz="1600" b="0" i="0">
                <a:solidFill>
                  <a:srgbClr val="888888"/>
                </a:solidFill>
                <a:latin typeface="Calibri"/>
              </a:defRPr>
            </a:pPr>
            <a:r>
              <a:t>DevOps — Continuous Assessment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Agenda</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600"/>
              </a:spcAft>
              <a:defRPr sz="2000">
                <a:solidFill>
                  <a:srgbClr val="333333"/>
                </a:solidFill>
                <a:latin typeface="Calibri"/>
              </a:defRPr>
            </a:pPr>
            <a:r>
              <a:t>• 1. System Architecture Overview</a:t>
            </a:r>
          </a:p>
          <a:p>
            <a:pPr>
              <a:spcAft>
                <a:spcPts val="600"/>
              </a:spcAft>
              <a:defRPr sz="2000">
                <a:solidFill>
                  <a:srgbClr val="333333"/>
                </a:solidFill>
                <a:latin typeface="Calibri"/>
              </a:defRPr>
            </a:pPr>
            <a:r>
              <a:t>• 2. Live Application Demo</a:t>
            </a:r>
          </a:p>
          <a:p>
            <a:pPr>
              <a:spcAft>
                <a:spcPts val="600"/>
              </a:spcAft>
              <a:defRPr sz="2000">
                <a:solidFill>
                  <a:srgbClr val="333333"/>
                </a:solidFill>
                <a:latin typeface="Calibri"/>
              </a:defRPr>
            </a:pPr>
            <a:r>
              <a:t>• 3. Repository &amp; Branching Strategy</a:t>
            </a:r>
          </a:p>
          <a:p>
            <a:pPr>
              <a:spcAft>
                <a:spcPts val="600"/>
              </a:spcAft>
              <a:defRPr sz="2000">
                <a:solidFill>
                  <a:srgbClr val="333333"/>
                </a:solidFill>
                <a:latin typeface="Calibri"/>
              </a:defRPr>
            </a:pPr>
            <a:r>
              <a:t>• 4. CI/CD Pipeline Architecture</a:t>
            </a:r>
          </a:p>
          <a:p>
            <a:pPr>
              <a:spcAft>
                <a:spcPts val="600"/>
              </a:spcAft>
              <a:defRPr sz="2000">
                <a:solidFill>
                  <a:srgbClr val="333333"/>
                </a:solidFill>
                <a:latin typeface="Calibri"/>
              </a:defRPr>
            </a:pPr>
            <a:r>
              <a:t>• 5. Deployment Strategy (Blue/Green)</a:t>
            </a:r>
          </a:p>
          <a:p>
            <a:pPr>
              <a:spcAft>
                <a:spcPts val="600"/>
              </a:spcAft>
              <a:defRPr sz="2000">
                <a:solidFill>
                  <a:srgbClr val="333333"/>
                </a:solidFill>
                <a:latin typeface="Calibri"/>
              </a:defRPr>
            </a:pPr>
            <a:r>
              <a:t>• 6. Infrastructure as Code (Terraform)</a:t>
            </a:r>
          </a:p>
        </p:txBody>
      </p:sp>
      <p:sp>
        <p:nvSpPr>
          <p:cNvPr id="6" name="TextBox 5"/>
          <p:cNvSpPr txBox="1"/>
          <p:nvPr/>
        </p:nvSpPr>
        <p:spPr>
          <a:xfrm>
            <a:off x="6217920" y="1371600"/>
            <a:ext cx="5029200" cy="4572000"/>
          </a:xfrm>
          <a:prstGeom prst="rect">
            <a:avLst/>
          </a:prstGeom>
          <a:noFill/>
        </p:spPr>
        <p:txBody>
          <a:bodyPr wrap="square">
            <a:spAutoFit/>
          </a:bodyPr>
          <a:lstStyle/>
          <a:p>
            <a:pPr>
              <a:spcAft>
                <a:spcPts val="600"/>
              </a:spcAft>
              <a:defRPr sz="2000">
                <a:solidFill>
                  <a:srgbClr val="333333"/>
                </a:solidFill>
                <a:latin typeface="Calibri"/>
              </a:defRPr>
            </a:pPr>
            <a:r>
              <a:t>• 7. Container Orchestration (AKS + Helm)</a:t>
            </a:r>
          </a:p>
          <a:p>
            <a:pPr>
              <a:spcAft>
                <a:spcPts val="600"/>
              </a:spcAft>
              <a:defRPr sz="2000">
                <a:solidFill>
                  <a:srgbClr val="333333"/>
                </a:solidFill>
                <a:latin typeface="Calibri"/>
              </a:defRPr>
            </a:pPr>
            <a:r>
              <a:t>• 8. Evaluation Criteria (11 areas)</a:t>
            </a:r>
          </a:p>
          <a:p>
            <a:pPr>
              <a:spcAft>
                <a:spcPts val="600"/>
              </a:spcAft>
              <a:defRPr sz="2000">
                <a:solidFill>
                  <a:srgbClr val="333333"/>
                </a:solidFill>
                <a:latin typeface="Calibri"/>
              </a:defRPr>
            </a:pPr>
            <a:r>
              <a:t>• 9. Additional Features</a:t>
            </a:r>
          </a:p>
          <a:p>
            <a:pPr>
              <a:spcAft>
                <a:spcPts val="600"/>
              </a:spcAft>
              <a:defRPr sz="2000">
                <a:solidFill>
                  <a:srgbClr val="333333"/>
                </a:solidFill>
                <a:latin typeface="Calibri"/>
              </a:defRPr>
            </a:pPr>
            <a:r>
              <a:t>• 10. Cost Analysis</a:t>
            </a:r>
          </a:p>
          <a:p>
            <a:pPr>
              <a:spcAft>
                <a:spcPts val="600"/>
              </a:spcAft>
              <a:defRPr sz="2000">
                <a:solidFill>
                  <a:srgbClr val="333333"/>
                </a:solidFill>
                <a:latin typeface="Calibri"/>
              </a:defRPr>
            </a:pPr>
            <a:r>
              <a:t>• 11. Critical Reflection</a:t>
            </a:r>
          </a:p>
          <a:p>
            <a:pPr>
              <a:spcAft>
                <a:spcPts val="600"/>
              </a:spcAft>
              <a:defRPr sz="2000">
                <a:solidFill>
                  <a:srgbClr val="333333"/>
                </a:solidFill>
                <a:latin typeface="Calibri"/>
              </a:defRPr>
            </a:pPr>
            <a:r>
              <a:t>• 12.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System Architecture Overview</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45920"/>
            <a:ext cx="3108960" cy="3200400"/>
          </a:xfrm>
          <a:prstGeom prst="roundRect">
            <a:avLst/>
          </a:prstGeom>
          <a:solidFill>
            <a:srgbClr val="FFFFFF"/>
          </a:solidFill>
          <a:ln w="381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1691640"/>
            <a:ext cx="3017520" cy="6400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2743200" cy="548640"/>
          </a:xfrm>
          <a:prstGeom prst="rect">
            <a:avLst/>
          </a:prstGeom>
          <a:noFill/>
        </p:spPr>
        <p:txBody>
          <a:bodyPr wrap="square">
            <a:spAutoFit/>
          </a:bodyPr>
          <a:lstStyle/>
          <a:p>
            <a:pPr algn="ctr">
              <a:spcAft>
                <a:spcPts val="400"/>
              </a:spcAft>
              <a:defRPr sz="2200" b="1" i="0">
                <a:solidFill>
                  <a:srgbClr val="FFFFFF"/>
                </a:solidFill>
                <a:latin typeface="Calibri"/>
              </a:defRPr>
            </a:pPr>
            <a:r>
              <a:t>Frontend</a:t>
            </a:r>
          </a:p>
        </p:txBody>
      </p:sp>
      <p:sp>
        <p:nvSpPr>
          <p:cNvPr id="8" name="TextBox 7"/>
          <p:cNvSpPr txBox="1"/>
          <p:nvPr/>
        </p:nvSpPr>
        <p:spPr>
          <a:xfrm>
            <a:off x="1097280" y="2468880"/>
            <a:ext cx="2743200" cy="365760"/>
          </a:xfrm>
          <a:prstGeom prst="rect">
            <a:avLst/>
          </a:prstGeom>
          <a:noFill/>
        </p:spPr>
        <p:txBody>
          <a:bodyPr wrap="square">
            <a:spAutoFit/>
          </a:bodyPr>
          <a:lstStyle/>
          <a:p>
            <a:pPr algn="ctr">
              <a:spcAft>
                <a:spcPts val="400"/>
              </a:spcAft>
              <a:defRPr sz="1400" b="0" i="0">
                <a:solidFill>
                  <a:srgbClr val="333333"/>
                </a:solidFill>
                <a:latin typeface="Calibri"/>
              </a:defRPr>
            </a:pPr>
            <a:r>
              <a:t>Node.js 20 / Express / EJS</a:t>
            </a:r>
          </a:p>
        </p:txBody>
      </p:sp>
      <p:sp>
        <p:nvSpPr>
          <p:cNvPr id="9" name="TextBox 8"/>
          <p:cNvSpPr txBox="1"/>
          <p:nvPr/>
        </p:nvSpPr>
        <p:spPr>
          <a:xfrm>
            <a:off x="1097280" y="2834640"/>
            <a:ext cx="2743200" cy="274320"/>
          </a:xfrm>
          <a:prstGeom prst="rect">
            <a:avLst/>
          </a:prstGeom>
          <a:noFill/>
        </p:spPr>
        <p:txBody>
          <a:bodyPr wrap="square">
            <a:spAutoFit/>
          </a:bodyPr>
          <a:lstStyle/>
          <a:p>
            <a:pPr algn="ctr">
              <a:spcAft>
                <a:spcPts val="400"/>
              </a:spcAft>
              <a:defRPr sz="1200" b="1" i="0">
                <a:solidFill>
                  <a:srgbClr val="3B82F6"/>
                </a:solidFill>
                <a:latin typeface="Calibri"/>
              </a:defRPr>
            </a:pPr>
            <a:r>
              <a:t>Port 3000</a:t>
            </a:r>
          </a:p>
        </p:txBody>
      </p:sp>
      <p:sp>
        <p:nvSpPr>
          <p:cNvPr id="10" name="TextBox 9"/>
          <p:cNvSpPr txBox="1"/>
          <p:nvPr/>
        </p:nvSpPr>
        <p:spPr>
          <a:xfrm>
            <a:off x="1097280" y="3291840"/>
            <a:ext cx="2743200" cy="1097280"/>
          </a:xfrm>
          <a:prstGeom prst="rect">
            <a:avLst/>
          </a:prstGeom>
          <a:noFill/>
        </p:spPr>
        <p:txBody>
          <a:bodyPr wrap="square">
            <a:spAutoFit/>
          </a:bodyPr>
          <a:lstStyle/>
          <a:p>
            <a:pPr algn="ctr">
              <a:spcAft>
                <a:spcPts val="400"/>
              </a:spcAft>
              <a:defRPr sz="1400" b="0" i="0">
                <a:solidFill>
                  <a:srgbClr val="333333"/>
                </a:solidFill>
                <a:latin typeface="Calibri"/>
              </a:defRPr>
            </a:pPr>
            <a:r>
              <a:t>Dynamic Web UI</a:t>
            </a:r>
            <a:br/>
            <a:r>
              <a:t>Proxies API requests</a:t>
            </a:r>
          </a:p>
        </p:txBody>
      </p:sp>
      <p:sp>
        <p:nvSpPr>
          <p:cNvPr id="11" name="Rounded Rectangle 10"/>
          <p:cNvSpPr/>
          <p:nvPr/>
        </p:nvSpPr>
        <p:spPr>
          <a:xfrm>
            <a:off x="4572000" y="1645920"/>
            <a:ext cx="3108960" cy="3200400"/>
          </a:xfrm>
          <a:prstGeom prst="roundRect">
            <a:avLst/>
          </a:prstGeom>
          <a:solidFill>
            <a:srgbClr val="FFFFFF"/>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1691640"/>
            <a:ext cx="3017520" cy="640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737360"/>
            <a:ext cx="2743200" cy="548640"/>
          </a:xfrm>
          <a:prstGeom prst="rect">
            <a:avLst/>
          </a:prstGeom>
          <a:noFill/>
        </p:spPr>
        <p:txBody>
          <a:bodyPr wrap="square">
            <a:spAutoFit/>
          </a:bodyPr>
          <a:lstStyle/>
          <a:p>
            <a:pPr algn="ctr">
              <a:spcAft>
                <a:spcPts val="400"/>
              </a:spcAft>
              <a:defRPr sz="2200" b="1" i="0">
                <a:solidFill>
                  <a:srgbClr val="FFFFFF"/>
                </a:solidFill>
                <a:latin typeface="Calibri"/>
              </a:defRPr>
            </a:pPr>
            <a:r>
              <a:t>Backend API</a:t>
            </a:r>
          </a:p>
        </p:txBody>
      </p:sp>
      <p:sp>
        <p:nvSpPr>
          <p:cNvPr id="14" name="TextBox 13"/>
          <p:cNvSpPr txBox="1"/>
          <p:nvPr/>
        </p:nvSpPr>
        <p:spPr>
          <a:xfrm>
            <a:off x="4754880" y="2468880"/>
            <a:ext cx="2743200" cy="365760"/>
          </a:xfrm>
          <a:prstGeom prst="rect">
            <a:avLst/>
          </a:prstGeom>
          <a:noFill/>
        </p:spPr>
        <p:txBody>
          <a:bodyPr wrap="square">
            <a:spAutoFit/>
          </a:bodyPr>
          <a:lstStyle/>
          <a:p>
            <a:pPr algn="ctr">
              <a:spcAft>
                <a:spcPts val="400"/>
              </a:spcAft>
              <a:defRPr sz="1400" b="0" i="0">
                <a:solidFill>
                  <a:srgbClr val="333333"/>
                </a:solidFill>
                <a:latin typeface="Calibri"/>
              </a:defRPr>
            </a:pPr>
            <a:r>
              <a:t>Java 17 / Spring Boot 3</a:t>
            </a:r>
          </a:p>
        </p:txBody>
      </p:sp>
      <p:sp>
        <p:nvSpPr>
          <p:cNvPr id="15" name="TextBox 14"/>
          <p:cNvSpPr txBox="1"/>
          <p:nvPr/>
        </p:nvSpPr>
        <p:spPr>
          <a:xfrm>
            <a:off x="4754880" y="2834640"/>
            <a:ext cx="2743200" cy="274320"/>
          </a:xfrm>
          <a:prstGeom prst="rect">
            <a:avLst/>
          </a:prstGeom>
          <a:noFill/>
        </p:spPr>
        <p:txBody>
          <a:bodyPr wrap="square">
            <a:spAutoFit/>
          </a:bodyPr>
          <a:lstStyle/>
          <a:p>
            <a:pPr algn="ctr">
              <a:spcAft>
                <a:spcPts val="400"/>
              </a:spcAft>
              <a:defRPr sz="1200" b="1" i="0">
                <a:solidFill>
                  <a:srgbClr val="3B82F6"/>
                </a:solidFill>
                <a:latin typeface="Calibri"/>
              </a:defRPr>
            </a:pPr>
            <a:r>
              <a:t>Port 8080</a:t>
            </a:r>
          </a:p>
        </p:txBody>
      </p:sp>
      <p:sp>
        <p:nvSpPr>
          <p:cNvPr id="16" name="TextBox 15"/>
          <p:cNvSpPr txBox="1"/>
          <p:nvPr/>
        </p:nvSpPr>
        <p:spPr>
          <a:xfrm>
            <a:off x="4754880" y="3291840"/>
            <a:ext cx="2743200" cy="1097280"/>
          </a:xfrm>
          <a:prstGeom prst="rect">
            <a:avLst/>
          </a:prstGeom>
          <a:noFill/>
        </p:spPr>
        <p:txBody>
          <a:bodyPr wrap="square">
            <a:spAutoFit/>
          </a:bodyPr>
          <a:lstStyle/>
          <a:p>
            <a:pPr algn="ctr">
              <a:spcAft>
                <a:spcPts val="400"/>
              </a:spcAft>
              <a:defRPr sz="1400" b="0" i="0">
                <a:solidFill>
                  <a:srgbClr val="333333"/>
                </a:solidFill>
                <a:latin typeface="Calibri"/>
              </a:defRPr>
            </a:pPr>
            <a:r>
              <a:t>REST API — CRUD</a:t>
            </a:r>
            <a:br/>
            <a:r>
              <a:t>Validation &amp; Logic</a:t>
            </a:r>
          </a:p>
        </p:txBody>
      </p:sp>
      <p:sp>
        <p:nvSpPr>
          <p:cNvPr id="17" name="Rounded Rectangle 16"/>
          <p:cNvSpPr/>
          <p:nvPr/>
        </p:nvSpPr>
        <p:spPr>
          <a:xfrm>
            <a:off x="8229600" y="1645920"/>
            <a:ext cx="3108960" cy="3200400"/>
          </a:xfrm>
          <a:prstGeom prst="roundRect">
            <a:avLst/>
          </a:prstGeom>
          <a:solidFill>
            <a:srgbClr val="FFFFFF"/>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691640"/>
            <a:ext cx="301752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737360"/>
            <a:ext cx="2743200" cy="548640"/>
          </a:xfrm>
          <a:prstGeom prst="rect">
            <a:avLst/>
          </a:prstGeom>
          <a:noFill/>
        </p:spPr>
        <p:txBody>
          <a:bodyPr wrap="square">
            <a:spAutoFit/>
          </a:bodyPr>
          <a:lstStyle/>
          <a:p>
            <a:pPr algn="ctr">
              <a:spcAft>
                <a:spcPts val="400"/>
              </a:spcAft>
              <a:defRPr sz="2200" b="1" i="0">
                <a:solidFill>
                  <a:srgbClr val="FFFFFF"/>
                </a:solidFill>
                <a:latin typeface="Calibri"/>
              </a:defRPr>
            </a:pPr>
            <a:r>
              <a:t>Database</a:t>
            </a:r>
          </a:p>
        </p:txBody>
      </p:sp>
      <p:sp>
        <p:nvSpPr>
          <p:cNvPr id="20" name="TextBox 19"/>
          <p:cNvSpPr txBox="1"/>
          <p:nvPr/>
        </p:nvSpPr>
        <p:spPr>
          <a:xfrm>
            <a:off x="8412480" y="2468880"/>
            <a:ext cx="2743200" cy="365760"/>
          </a:xfrm>
          <a:prstGeom prst="rect">
            <a:avLst/>
          </a:prstGeom>
          <a:noFill/>
        </p:spPr>
        <p:txBody>
          <a:bodyPr wrap="square">
            <a:spAutoFit/>
          </a:bodyPr>
          <a:lstStyle/>
          <a:p>
            <a:pPr algn="ctr">
              <a:spcAft>
                <a:spcPts val="400"/>
              </a:spcAft>
              <a:defRPr sz="1400" b="0" i="0">
                <a:solidFill>
                  <a:srgbClr val="333333"/>
                </a:solidFill>
                <a:latin typeface="Calibri"/>
              </a:defRPr>
            </a:pPr>
            <a:r>
              <a:t>MongoDB 7</a:t>
            </a:r>
          </a:p>
        </p:txBody>
      </p:sp>
      <p:sp>
        <p:nvSpPr>
          <p:cNvPr id="21" name="TextBox 20"/>
          <p:cNvSpPr txBox="1"/>
          <p:nvPr/>
        </p:nvSpPr>
        <p:spPr>
          <a:xfrm>
            <a:off x="8412480" y="2834640"/>
            <a:ext cx="2743200" cy="274320"/>
          </a:xfrm>
          <a:prstGeom prst="rect">
            <a:avLst/>
          </a:prstGeom>
          <a:noFill/>
        </p:spPr>
        <p:txBody>
          <a:bodyPr wrap="square">
            <a:spAutoFit/>
          </a:bodyPr>
          <a:lstStyle/>
          <a:p>
            <a:pPr algn="ctr">
              <a:spcAft>
                <a:spcPts val="400"/>
              </a:spcAft>
              <a:defRPr sz="1200" b="1" i="0">
                <a:solidFill>
                  <a:srgbClr val="3B82F6"/>
                </a:solidFill>
                <a:latin typeface="Calibri"/>
              </a:defRPr>
            </a:pPr>
            <a:r>
              <a:t>Port 27017</a:t>
            </a:r>
          </a:p>
        </p:txBody>
      </p:sp>
      <p:sp>
        <p:nvSpPr>
          <p:cNvPr id="22" name="TextBox 21"/>
          <p:cNvSpPr txBox="1"/>
          <p:nvPr/>
        </p:nvSpPr>
        <p:spPr>
          <a:xfrm>
            <a:off x="8412480" y="3291840"/>
            <a:ext cx="2743200" cy="1097280"/>
          </a:xfrm>
          <a:prstGeom prst="rect">
            <a:avLst/>
          </a:prstGeom>
          <a:noFill/>
        </p:spPr>
        <p:txBody>
          <a:bodyPr wrap="square">
            <a:spAutoFit/>
          </a:bodyPr>
          <a:lstStyle/>
          <a:p>
            <a:pPr algn="ctr">
              <a:spcAft>
                <a:spcPts val="400"/>
              </a:spcAft>
              <a:defRPr sz="1400" b="0" i="0">
                <a:solidFill>
                  <a:srgbClr val="333333"/>
                </a:solidFill>
                <a:latin typeface="Calibri"/>
              </a:defRPr>
            </a:pPr>
            <a:r>
              <a:t>Document Store</a:t>
            </a:r>
            <a:br/>
            <a:r>
              <a:t>BSON recipes</a:t>
            </a:r>
          </a:p>
        </p:txBody>
      </p:sp>
      <p:sp>
        <p:nvSpPr>
          <p:cNvPr id="23" name="Right Arrow 22"/>
          <p:cNvSpPr/>
          <p:nvPr/>
        </p:nvSpPr>
        <p:spPr>
          <a:xfrm>
            <a:off x="4023360" y="3017520"/>
            <a:ext cx="54864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7680960" y="3017520"/>
            <a:ext cx="54864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5120640"/>
            <a:ext cx="5486400" cy="457200"/>
          </a:xfrm>
          <a:prstGeom prst="rect">
            <a:avLst/>
          </a:prstGeom>
          <a:noFill/>
        </p:spPr>
        <p:txBody>
          <a:bodyPr wrap="square">
            <a:spAutoFit/>
          </a:bodyPr>
          <a:lstStyle/>
          <a:p>
            <a:pPr algn="ctr">
              <a:spcAft>
                <a:spcPts val="400"/>
              </a:spcAft>
              <a:defRPr sz="1300" b="0" i="1">
                <a:solidFill>
                  <a:srgbClr val="888888"/>
                </a:solidFill>
                <a:latin typeface="Calibri"/>
              </a:defRPr>
            </a:pPr>
            <a:r>
              <a:t>HTTP/JSON                                MongoDB Wire Protocol</a:t>
            </a:r>
          </a:p>
        </p:txBody>
      </p:sp>
      <p:sp>
        <p:nvSpPr>
          <p:cNvPr id="26" name="TextBox 25"/>
          <p:cNvSpPr txBox="1"/>
          <p:nvPr/>
        </p:nvSpPr>
        <p:spPr>
          <a:xfrm>
            <a:off x="731520" y="5669280"/>
            <a:ext cx="10058400" cy="731520"/>
          </a:xfrm>
          <a:prstGeom prst="rect">
            <a:avLst/>
          </a:prstGeom>
          <a:noFill/>
        </p:spPr>
        <p:txBody>
          <a:bodyPr wrap="square">
            <a:spAutoFit/>
          </a:bodyPr>
          <a:lstStyle/>
          <a:p>
            <a:pPr algn="ctr">
              <a:spcAft>
                <a:spcPts val="400"/>
              </a:spcAft>
              <a:defRPr sz="1400" b="0" i="1">
                <a:solidFill>
                  <a:srgbClr val="333333"/>
                </a:solidFill>
                <a:latin typeface="Calibri"/>
              </a:defRPr>
            </a:pPr>
            <a:r>
              <a:t>Synchronous request-response  •  Each service independently buildable &amp; deployable  •  Docker multi-stage builds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Live Demo — Frontend (localhost:3000)</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_mock_frontend.png"/>
          <p:cNvPicPr>
            <a:picLocks noChangeAspect="1"/>
          </p:cNvPicPr>
          <p:nvPr/>
        </p:nvPicPr>
        <p:blipFill>
          <a:blip r:embed="rId2"/>
          <a:stretch>
            <a:fillRect/>
          </a:stretch>
        </p:blipFill>
        <p:spPr>
          <a:xfrm>
            <a:off x="1645920" y="1371600"/>
            <a:ext cx="8686800" cy="5029200"/>
          </a:xfrm>
          <a:prstGeom prst="rect">
            <a:avLst/>
          </a:prstGeom>
        </p:spPr>
      </p:pic>
      <p:sp>
        <p:nvSpPr>
          <p:cNvPr id="6" name="TextBox 5"/>
          <p:cNvSpPr txBox="1"/>
          <p:nvPr/>
        </p:nvSpPr>
        <p:spPr>
          <a:xfrm>
            <a:off x="1645920" y="6492240"/>
            <a:ext cx="8686800" cy="365760"/>
          </a:xfrm>
          <a:prstGeom prst="rect">
            <a:avLst/>
          </a:prstGeom>
          <a:noFill/>
        </p:spPr>
        <p:txBody>
          <a:bodyPr wrap="square">
            <a:spAutoFit/>
          </a:bodyPr>
          <a:lstStyle/>
          <a:p>
            <a:pPr algn="ctr">
              <a:spcAft>
                <a:spcPts val="400"/>
              </a:spcAft>
              <a:defRPr sz="1200" b="0" i="1">
                <a:solidFill>
                  <a:srgbClr val="888888"/>
                </a:solidFill>
                <a:latin typeface="Calibri"/>
              </a:defRPr>
            </a:pPr>
            <a:r>
              <a:t>Recipe Manager — Node.js / Express / EJS frontend running locally via Docker Compose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Live Demo — Backend API (localhost:8080/api/recipes)</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_mock_api.png"/>
          <p:cNvPicPr>
            <a:picLocks noChangeAspect="1"/>
          </p:cNvPicPr>
          <p:nvPr/>
        </p:nvPicPr>
        <p:blipFill>
          <a:blip r:embed="rId2"/>
          <a:stretch>
            <a:fillRect/>
          </a:stretch>
        </p:blipFill>
        <p:spPr>
          <a:xfrm>
            <a:off x="2286000" y="1371600"/>
            <a:ext cx="7315200" cy="3200400"/>
          </a:xfrm>
          <a:prstGeom prst="rect">
            <a:avLst/>
          </a:prstGeom>
        </p:spPr>
      </p:pic>
      <p:sp>
        <p:nvSpPr>
          <p:cNvPr id="6" name="TextBox 5"/>
          <p:cNvSpPr txBox="1"/>
          <p:nvPr/>
        </p:nvSpPr>
        <p:spPr>
          <a:xfrm>
            <a:off x="1371600" y="4754880"/>
            <a:ext cx="9144000" cy="365760"/>
          </a:xfrm>
          <a:prstGeom prst="rect">
            <a:avLst/>
          </a:prstGeom>
          <a:noFill/>
        </p:spPr>
        <p:txBody>
          <a:bodyPr wrap="square">
            <a:spAutoFit/>
          </a:bodyPr>
          <a:lstStyle/>
          <a:p>
            <a:pPr algn="ctr">
              <a:spcAft>
                <a:spcPts val="400"/>
              </a:spcAft>
              <a:defRPr sz="1200" b="0" i="1">
                <a:solidFill>
                  <a:srgbClr val="888888"/>
                </a:solidFill>
                <a:latin typeface="Calibri"/>
              </a:defRPr>
            </a:pPr>
            <a:r>
              <a:t>Spring Boot 3 REST API returning JSON — empty array confirms healthy service + DB connectivity</a:t>
            </a:r>
          </a:p>
        </p:txBody>
      </p:sp>
      <p:sp>
        <p:nvSpPr>
          <p:cNvPr id="7" name="TextBox 6"/>
          <p:cNvSpPr txBox="1"/>
          <p:nvPr/>
        </p:nvSpPr>
        <p:spPr>
          <a:xfrm>
            <a:off x="1371600" y="5303520"/>
            <a:ext cx="9144000" cy="1371600"/>
          </a:xfrm>
          <a:prstGeom prst="rect">
            <a:avLst/>
          </a:prstGeom>
          <a:noFill/>
        </p:spPr>
        <p:txBody>
          <a:bodyPr wrap="square">
            <a:spAutoFit/>
          </a:bodyPr>
          <a:lstStyle/>
          <a:p>
            <a:pPr>
              <a:spcAft>
                <a:spcPts val="600"/>
              </a:spcAft>
              <a:defRPr sz="1500">
                <a:solidFill>
                  <a:srgbClr val="333333"/>
                </a:solidFill>
                <a:latin typeface="Calibri"/>
              </a:defRPr>
            </a:pPr>
            <a:r>
              <a:t>• RESTful endpoints: GET, POST, PUT, DELETE on /api/recipes</a:t>
            </a:r>
          </a:p>
          <a:p>
            <a:pPr>
              <a:spcAft>
                <a:spcPts val="600"/>
              </a:spcAft>
              <a:defRPr sz="1500">
                <a:solidFill>
                  <a:srgbClr val="333333"/>
                </a:solidFill>
                <a:latin typeface="Calibri"/>
              </a:defRPr>
            </a:pPr>
            <a:r>
              <a:t>• Spring Data MongoDB handles object-document mapping automatically</a:t>
            </a:r>
          </a:p>
          <a:p>
            <a:pPr>
              <a:spcAft>
                <a:spcPts val="600"/>
              </a:spcAft>
              <a:defRPr sz="1500">
                <a:solidFill>
                  <a:srgbClr val="333333"/>
                </a:solidFill>
                <a:latin typeface="Calibri"/>
              </a:defRPr>
            </a:pPr>
            <a:r>
              <a:t>• Health check via /actuator/health — used by Kubernetes readiness probes</a:t>
            </a:r>
          </a:p>
          <a:p>
            <a:pPr>
              <a:spcAft>
                <a:spcPts val="600"/>
              </a:spcAft>
              <a:defRPr sz="1500">
                <a:solidFill>
                  <a:srgbClr val="333333"/>
                </a:solidFill>
                <a:latin typeface="Calibri"/>
              </a:defRPr>
            </a:pPr>
            <a:r>
              <a:t>• Prometheus metrics exposed at /actuator/prometheus for monitoring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Repository &amp; Branching Strategy</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029200" cy="457200"/>
          </a:xfrm>
          <a:prstGeom prst="rect">
            <a:avLst/>
          </a:prstGeom>
          <a:noFill/>
        </p:spPr>
        <p:txBody>
          <a:bodyPr wrap="square">
            <a:spAutoFit/>
          </a:bodyPr>
          <a:lstStyle/>
          <a:p>
            <a:pPr algn="l">
              <a:spcAft>
                <a:spcPts val="400"/>
              </a:spcAft>
              <a:defRPr sz="2200" b="1" i="0">
                <a:solidFill>
                  <a:srgbClr val="1E3A5F"/>
                </a:solidFill>
                <a:latin typeface="Calibri"/>
              </a:defRPr>
            </a:pPr>
            <a:r>
              <a:t>Decision: Mono-Repo</a:t>
            </a:r>
          </a:p>
        </p:txBody>
      </p:sp>
      <p:sp>
        <p:nvSpPr>
          <p:cNvPr id="6" name="TextBox 5"/>
          <p:cNvSpPr txBox="1"/>
          <p:nvPr/>
        </p:nvSpPr>
        <p:spPr>
          <a:xfrm>
            <a:off x="731520" y="1920240"/>
            <a:ext cx="5029200" cy="2286000"/>
          </a:xfrm>
          <a:prstGeom prst="rect">
            <a:avLst/>
          </a:prstGeom>
          <a:noFill/>
        </p:spPr>
        <p:txBody>
          <a:bodyPr wrap="square">
            <a:spAutoFit/>
          </a:bodyPr>
          <a:lstStyle/>
          <a:p>
            <a:pPr>
              <a:spcAft>
                <a:spcPts val="600"/>
              </a:spcAft>
              <a:defRPr sz="1500">
                <a:solidFill>
                  <a:srgbClr val="333333"/>
                </a:solidFill>
                <a:latin typeface="Calibri"/>
              </a:defRPr>
            </a:pPr>
            <a:r>
              <a:t>• Single repo — complete project visibility</a:t>
            </a:r>
          </a:p>
          <a:p>
            <a:pPr>
              <a:spcAft>
                <a:spcPts val="600"/>
              </a:spcAft>
              <a:defRPr sz="1500">
                <a:solidFill>
                  <a:srgbClr val="333333"/>
                </a:solidFill>
                <a:latin typeface="Calibri"/>
              </a:defRPr>
            </a:pPr>
            <a:r>
              <a:t>• Atomic cross-service changes in one commit</a:t>
            </a:r>
          </a:p>
          <a:p>
            <a:pPr>
              <a:spcAft>
                <a:spcPts val="600"/>
              </a:spcAft>
              <a:defRPr sz="1500">
                <a:solidFill>
                  <a:srgbClr val="333333"/>
                </a:solidFill>
                <a:latin typeface="Calibri"/>
              </a:defRPr>
            </a:pPr>
            <a:r>
              <a:t>• Shared CI/CD and infra code</a:t>
            </a:r>
          </a:p>
          <a:p>
            <a:pPr>
              <a:spcAft>
                <a:spcPts val="600"/>
              </a:spcAft>
              <a:defRPr sz="1500">
                <a:solidFill>
                  <a:srgbClr val="333333"/>
                </a:solidFill>
                <a:latin typeface="Calibri"/>
              </a:defRPr>
            </a:pPr>
            <a:r>
              <a:t>• Path-based CI triggers isolate pipelines</a:t>
            </a:r>
          </a:p>
          <a:p>
            <a:pPr>
              <a:spcAft>
                <a:spcPts val="600"/>
              </a:spcAft>
              <a:defRPr sz="1500">
                <a:solidFill>
                  <a:srgbClr val="333333"/>
                </a:solidFill>
                <a:latin typeface="Calibri"/>
              </a:defRPr>
            </a:pPr>
            <a:r>
              <a:t>• Scales to ~10 services (Google/Meta use mono-repos)</a:t>
            </a:r>
          </a:p>
        </p:txBody>
      </p:sp>
      <p:sp>
        <p:nvSpPr>
          <p:cNvPr id="7" name="TextBox 6"/>
          <p:cNvSpPr txBox="1"/>
          <p:nvPr/>
        </p:nvSpPr>
        <p:spPr>
          <a:xfrm>
            <a:off x="6400800" y="1371600"/>
            <a:ext cx="5029200" cy="457200"/>
          </a:xfrm>
          <a:prstGeom prst="rect">
            <a:avLst/>
          </a:prstGeom>
          <a:noFill/>
        </p:spPr>
        <p:txBody>
          <a:bodyPr wrap="square">
            <a:spAutoFit/>
          </a:bodyPr>
          <a:lstStyle/>
          <a:p>
            <a:pPr algn="l">
              <a:spcAft>
                <a:spcPts val="400"/>
              </a:spcAft>
              <a:defRPr sz="2200" b="1" i="0">
                <a:solidFill>
                  <a:srgbClr val="1E3A5F"/>
                </a:solidFill>
                <a:latin typeface="Calibri"/>
              </a:defRPr>
            </a:pPr>
            <a:r>
              <a:t>Branching Model: GitHub Flow</a:t>
            </a:r>
          </a:p>
        </p:txBody>
      </p:sp>
      <p:graphicFrame>
        <p:nvGraphicFramePr>
          <p:cNvPr id="8" name="Table 7"/>
          <p:cNvGraphicFramePr>
            <a:graphicFrameLocks noGrp="1"/>
          </p:cNvGraphicFramePr>
          <p:nvPr/>
        </p:nvGraphicFramePr>
        <p:xfrm>
          <a:off x="6400800" y="2103120"/>
          <a:ext cx="5029200" cy="1828800"/>
        </p:xfrm>
        <a:graphic>
          <a:graphicData uri="http://schemas.openxmlformats.org/drawingml/2006/table">
            <a:tbl>
              <a:tblPr firstRow="1" bandRow="1">
                <a:tableStyleId>{5C22544A-7EE6-4342-B048-85BDC9FD1C3A}</a:tableStyleId>
              </a:tblPr>
              <a:tblGrid>
                <a:gridCol w="1676400"/>
                <a:gridCol w="1676400"/>
                <a:gridCol w="1676400"/>
              </a:tblGrid>
              <a:tr h="365760">
                <a:tc>
                  <a:txBody>
                    <a:bodyPr/>
                    <a:lstStyle/>
                    <a:p>
                      <a:pPr>
                        <a:defRPr sz="1100" b="1">
                          <a:solidFill>
                            <a:srgbClr val="FFFFFF"/>
                          </a:solidFill>
                          <a:latin typeface="Calibri"/>
                        </a:defRPr>
                      </a:pPr>
                      <a:r>
                        <a:t>Branch</a:t>
                      </a:r>
                    </a:p>
                  </a:txBody>
                  <a:tcPr>
                    <a:solidFill>
                      <a:srgbClr val="1E3A5F"/>
                    </a:solidFill>
                  </a:tcPr>
                </a:tc>
                <a:tc>
                  <a:txBody>
                    <a:bodyPr/>
                    <a:lstStyle/>
                    <a:p>
                      <a:pPr>
                        <a:defRPr sz="1100" b="1">
                          <a:solidFill>
                            <a:srgbClr val="FFFFFF"/>
                          </a:solidFill>
                          <a:latin typeface="Calibri"/>
                        </a:defRPr>
                      </a:pPr>
                      <a:r>
                        <a:t>Purpose</a:t>
                      </a:r>
                    </a:p>
                  </a:txBody>
                  <a:tcPr>
                    <a:solidFill>
                      <a:srgbClr val="1E3A5F"/>
                    </a:solidFill>
                  </a:tcPr>
                </a:tc>
                <a:tc>
                  <a:txBody>
                    <a:bodyPr/>
                    <a:lstStyle/>
                    <a:p>
                      <a:pPr>
                        <a:defRPr sz="1100" b="1">
                          <a:solidFill>
                            <a:srgbClr val="FFFFFF"/>
                          </a:solidFill>
                          <a:latin typeface="Calibri"/>
                        </a:defRPr>
                      </a:pPr>
                      <a:r>
                        <a:t>Protection</a:t>
                      </a:r>
                    </a:p>
                  </a:txBody>
                  <a:tcPr>
                    <a:solidFill>
                      <a:srgbClr val="1E3A5F"/>
                    </a:solidFill>
                  </a:tcPr>
                </a:tc>
              </a:tr>
              <a:tr h="365760">
                <a:tc>
                  <a:txBody>
                    <a:bodyPr/>
                    <a:lstStyle/>
                    <a:p>
                      <a:pPr>
                        <a:defRPr sz="1100">
                          <a:solidFill>
                            <a:srgbClr val="333333"/>
                          </a:solidFill>
                          <a:latin typeface="Calibri"/>
                        </a:defRPr>
                      </a:pPr>
                      <a:r>
                        <a:t>main</a:t>
                      </a:r>
                    </a:p>
                  </a:txBody>
                  <a:tcPr/>
                </a:tc>
                <a:tc>
                  <a:txBody>
                    <a:bodyPr/>
                    <a:lstStyle/>
                    <a:p>
                      <a:pPr>
                        <a:defRPr sz="1100">
                          <a:solidFill>
                            <a:srgbClr val="333333"/>
                          </a:solidFill>
                          <a:latin typeface="Calibri"/>
                        </a:defRPr>
                      </a:pPr>
                      <a:r>
                        <a:t>Production-ready</a:t>
                      </a:r>
                    </a:p>
                  </a:txBody>
                  <a:tcPr/>
                </a:tc>
                <a:tc>
                  <a:txBody>
                    <a:bodyPr/>
                    <a:lstStyle/>
                    <a:p>
                      <a:pPr>
                        <a:defRPr sz="1100">
                          <a:solidFill>
                            <a:srgbClr val="333333"/>
                          </a:solidFill>
                          <a:latin typeface="Calibri"/>
                        </a:defRPr>
                      </a:pPr>
                      <a:r>
                        <a:t>CI + scan + approval</a:t>
                      </a:r>
                    </a:p>
                  </a:txBody>
                  <a:tcPr/>
                </a:tc>
              </a:tr>
              <a:tr h="365760">
                <a:tc>
                  <a:txBody>
                    <a:bodyPr/>
                    <a:lstStyle/>
                    <a:p>
                      <a:pPr>
                        <a:defRPr sz="1100">
                          <a:solidFill>
                            <a:srgbClr val="333333"/>
                          </a:solidFill>
                          <a:latin typeface="Calibri"/>
                        </a:defRPr>
                      </a:pPr>
                      <a:r>
                        <a:t>develop</a:t>
                      </a:r>
                    </a:p>
                  </a:txBody>
                  <a:tcPr>
                    <a:solidFill>
                      <a:srgbClr val="F0F0F0"/>
                    </a:solidFill>
                  </a:tcPr>
                </a:tc>
                <a:tc>
                  <a:txBody>
                    <a:bodyPr/>
                    <a:lstStyle/>
                    <a:p>
                      <a:pPr>
                        <a:defRPr sz="1100">
                          <a:solidFill>
                            <a:srgbClr val="333333"/>
                          </a:solidFill>
                          <a:latin typeface="Calibri"/>
                        </a:defRPr>
                      </a:pPr>
                      <a:r>
                        <a:t>Integration</a:t>
                      </a:r>
                    </a:p>
                  </a:txBody>
                  <a:tcPr>
                    <a:solidFill>
                      <a:srgbClr val="F0F0F0"/>
                    </a:solidFill>
                  </a:tcPr>
                </a:tc>
                <a:tc>
                  <a:txBody>
                    <a:bodyPr/>
                    <a:lstStyle/>
                    <a:p>
                      <a:pPr>
                        <a:defRPr sz="1100">
                          <a:solidFill>
                            <a:srgbClr val="333333"/>
                          </a:solidFill>
                          <a:latin typeface="Calibri"/>
                        </a:defRPr>
                      </a:pPr>
                      <a:r>
                        <a:t>CI pass required</a:t>
                      </a:r>
                    </a:p>
                  </a:txBody>
                  <a:tcPr>
                    <a:solidFill>
                      <a:srgbClr val="F0F0F0"/>
                    </a:solidFill>
                  </a:tcPr>
                </a:tc>
              </a:tr>
              <a:tr h="365760">
                <a:tc>
                  <a:txBody>
                    <a:bodyPr/>
                    <a:lstStyle/>
                    <a:p>
                      <a:pPr>
                        <a:defRPr sz="1100">
                          <a:solidFill>
                            <a:srgbClr val="333333"/>
                          </a:solidFill>
                          <a:latin typeface="Calibri"/>
                        </a:defRPr>
                      </a:pPr>
                      <a:r>
                        <a:t>feature/*</a:t>
                      </a:r>
                    </a:p>
                  </a:txBody>
                  <a:tcPr/>
                </a:tc>
                <a:tc>
                  <a:txBody>
                    <a:bodyPr/>
                    <a:lstStyle/>
                    <a:p>
                      <a:pPr>
                        <a:defRPr sz="1100">
                          <a:solidFill>
                            <a:srgbClr val="333333"/>
                          </a:solidFill>
                          <a:latin typeface="Calibri"/>
                        </a:defRPr>
                      </a:pPr>
                      <a:r>
                        <a:t>Feature work</a:t>
                      </a:r>
                    </a:p>
                  </a:txBody>
                  <a:tcPr/>
                </a:tc>
                <a:tc>
                  <a:txBody>
                    <a:bodyPr/>
                    <a:lstStyle/>
                    <a:p>
                      <a:pPr>
                        <a:defRPr sz="1100">
                          <a:solidFill>
                            <a:srgbClr val="333333"/>
                          </a:solidFill>
                          <a:latin typeface="Calibri"/>
                        </a:defRPr>
                      </a:pPr>
                      <a:r>
                        <a:t>None</a:t>
                      </a:r>
                    </a:p>
                  </a:txBody>
                  <a:tcPr/>
                </a:tc>
              </a:tr>
              <a:tr h="365760">
                <a:tc>
                  <a:txBody>
                    <a:bodyPr/>
                    <a:lstStyle/>
                    <a:p>
                      <a:pPr>
                        <a:defRPr sz="1100">
                          <a:solidFill>
                            <a:srgbClr val="333333"/>
                          </a:solidFill>
                          <a:latin typeface="Calibri"/>
                        </a:defRPr>
                      </a:pPr>
                      <a:r>
                        <a:t>hotfix/*</a:t>
                      </a:r>
                    </a:p>
                  </a:txBody>
                  <a:tcPr>
                    <a:solidFill>
                      <a:srgbClr val="F0F0F0"/>
                    </a:solidFill>
                  </a:tcPr>
                </a:tc>
                <a:tc>
                  <a:txBody>
                    <a:bodyPr/>
                    <a:lstStyle/>
                    <a:p>
                      <a:pPr>
                        <a:defRPr sz="1100">
                          <a:solidFill>
                            <a:srgbClr val="333333"/>
                          </a:solidFill>
                          <a:latin typeface="Calibri"/>
                        </a:defRPr>
                      </a:pPr>
                      <a:r>
                        <a:t>Critical fixes</a:t>
                      </a:r>
                    </a:p>
                  </a:txBody>
                  <a:tcPr>
                    <a:solidFill>
                      <a:srgbClr val="F0F0F0"/>
                    </a:solidFill>
                  </a:tcPr>
                </a:tc>
                <a:tc>
                  <a:txBody>
                    <a:bodyPr/>
                    <a:lstStyle/>
                    <a:p>
                      <a:pPr>
                        <a:defRPr sz="1100">
                          <a:solidFill>
                            <a:srgbClr val="333333"/>
                          </a:solidFill>
                          <a:latin typeface="Calibri"/>
                        </a:defRPr>
                      </a:pPr>
                      <a:r>
                        <a:t>Same as main</a:t>
                      </a:r>
                    </a:p>
                  </a:txBody>
                  <a:tcPr>
                    <a:solidFill>
                      <a:srgbClr val="F0F0F0"/>
                    </a:solidFill>
                  </a:tcPr>
                </a:tc>
              </a:tr>
            </a:tbl>
          </a:graphicData>
        </a:graphic>
      </p:graphicFrame>
      <p:sp>
        <p:nvSpPr>
          <p:cNvPr id="9" name="TextBox 8"/>
          <p:cNvSpPr txBox="1"/>
          <p:nvPr/>
        </p:nvSpPr>
        <p:spPr>
          <a:xfrm>
            <a:off x="731520" y="4572000"/>
            <a:ext cx="10515600" cy="731520"/>
          </a:xfrm>
          <a:prstGeom prst="rect">
            <a:avLst/>
          </a:prstGeom>
          <a:noFill/>
        </p:spPr>
        <p:txBody>
          <a:bodyPr wrap="square">
            <a:spAutoFit/>
          </a:bodyPr>
          <a:lstStyle/>
          <a:p>
            <a:pPr algn="l">
              <a:spcAft>
                <a:spcPts val="400"/>
              </a:spcAft>
              <a:defRPr sz="1400" b="0" i="1">
                <a:solidFill>
                  <a:srgbClr val="333333"/>
                </a:solidFill>
                <a:latin typeface="Calibri"/>
              </a:defRPr>
            </a:pPr>
            <a:r>
              <a:t>PR into main requires: (1) All CI checks pass  (2) Trivy scan — no CRITICAL CVEs  (3) Code review approval</a:t>
            </a:r>
          </a:p>
        </p:txBody>
      </p:sp>
      <p:sp>
        <p:nvSpPr>
          <p:cNvPr id="10" name="TextBox 9"/>
          <p:cNvSpPr txBox="1"/>
          <p:nvPr/>
        </p:nvSpPr>
        <p:spPr>
          <a:xfrm>
            <a:off x="731520" y="5303520"/>
            <a:ext cx="10515600" cy="1097280"/>
          </a:xfrm>
          <a:prstGeom prst="rect">
            <a:avLst/>
          </a:prstGeom>
          <a:noFill/>
        </p:spPr>
        <p:txBody>
          <a:bodyPr wrap="square">
            <a:spAutoFit/>
          </a:bodyPr>
          <a:lstStyle/>
          <a:p>
            <a:pPr algn="l">
              <a:spcAft>
                <a:spcPts val="400"/>
              </a:spcAft>
              <a:defRPr sz="1400" b="0" i="1">
                <a:solidFill>
                  <a:srgbClr val="884400"/>
                </a:solidFill>
                <a:latin typeface="Calibri"/>
              </a:defRPr>
            </a:pPr>
            <a:r>
              <a:t>Critique: GitHub Flow is simpler than GitFlow — ideal for continuous deployment. For teams with less CI maturity, GitFlow's explicit release branches provide additional safety.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CI/CD Pipeline Architecture</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5486400" cy="457200"/>
          </a:xfrm>
          <a:prstGeom prst="rect">
            <a:avLst/>
          </a:prstGeom>
          <a:noFill/>
        </p:spPr>
        <p:txBody>
          <a:bodyPr wrap="square">
            <a:spAutoFit/>
          </a:bodyPr>
          <a:lstStyle/>
          <a:p>
            <a:pPr algn="l">
              <a:spcAft>
                <a:spcPts val="400"/>
              </a:spcAft>
              <a:defRPr sz="2000" b="1" i="0">
                <a:solidFill>
                  <a:srgbClr val="1E3A5F"/>
                </a:solidFill>
                <a:latin typeface="Calibri"/>
              </a:defRPr>
            </a:pPr>
            <a:r>
              <a:t>Continuous Integration (per-service)</a:t>
            </a:r>
          </a:p>
        </p:txBody>
      </p:sp>
      <p:sp>
        <p:nvSpPr>
          <p:cNvPr id="6" name="TextBox 5"/>
          <p:cNvSpPr txBox="1"/>
          <p:nvPr/>
        </p:nvSpPr>
        <p:spPr>
          <a:xfrm>
            <a:off x="548640" y="1828800"/>
            <a:ext cx="2560320" cy="274320"/>
          </a:xfrm>
          <a:prstGeom prst="rect">
            <a:avLst/>
          </a:prstGeom>
          <a:noFill/>
        </p:spPr>
        <p:txBody>
          <a:bodyPr wrap="square">
            <a:spAutoFit/>
          </a:bodyPr>
          <a:lstStyle/>
          <a:p>
            <a:pPr algn="l">
              <a:spcAft>
                <a:spcPts val="400"/>
              </a:spcAft>
              <a:defRPr sz="1400" b="1" i="0">
                <a:solidFill>
                  <a:srgbClr val="3B82F6"/>
                </a:solidFill>
                <a:latin typeface="Calibri"/>
              </a:defRPr>
            </a:pPr>
            <a:r>
              <a:t>Frontend CI</a:t>
            </a:r>
          </a:p>
        </p:txBody>
      </p:sp>
      <p:sp>
        <p:nvSpPr>
          <p:cNvPr id="7" name="TextBox 6"/>
          <p:cNvSpPr txBox="1"/>
          <p:nvPr/>
        </p:nvSpPr>
        <p:spPr>
          <a:xfrm>
            <a:off x="548640" y="2194560"/>
            <a:ext cx="2743200" cy="2286000"/>
          </a:xfrm>
          <a:prstGeom prst="rect">
            <a:avLst/>
          </a:prstGeom>
          <a:noFill/>
        </p:spPr>
        <p:txBody>
          <a:bodyPr wrap="square">
            <a:spAutoFit/>
          </a:bodyPr>
          <a:lstStyle/>
          <a:p>
            <a:pPr>
              <a:spcAft>
                <a:spcPts val="600"/>
              </a:spcAft>
              <a:defRPr sz="1300">
                <a:solidFill>
                  <a:srgbClr val="333333"/>
                </a:solidFill>
                <a:latin typeface="Calibri"/>
              </a:defRPr>
            </a:pPr>
            <a:r>
              <a:t>• Checkout → Node.js 20 setup</a:t>
            </a:r>
          </a:p>
          <a:p>
            <a:pPr>
              <a:spcAft>
                <a:spcPts val="600"/>
              </a:spcAft>
              <a:defRPr sz="1300">
                <a:solidFill>
                  <a:srgbClr val="333333"/>
                </a:solidFill>
                <a:latin typeface="Calibri"/>
              </a:defRPr>
            </a:pPr>
            <a:r>
              <a:t>• npm install → ESLint → Jest tests</a:t>
            </a:r>
          </a:p>
          <a:p>
            <a:pPr>
              <a:spcAft>
                <a:spcPts val="600"/>
              </a:spcAft>
              <a:defRPr sz="1300">
                <a:solidFill>
                  <a:srgbClr val="333333"/>
                </a:solidFill>
                <a:latin typeface="Calibri"/>
              </a:defRPr>
            </a:pPr>
            <a:r>
              <a:t>• Docker build (multi-stage)</a:t>
            </a:r>
          </a:p>
          <a:p>
            <a:pPr>
              <a:spcAft>
                <a:spcPts val="600"/>
              </a:spcAft>
              <a:defRPr sz="1300">
                <a:solidFill>
                  <a:srgbClr val="333333"/>
                </a:solidFill>
                <a:latin typeface="Calibri"/>
              </a:defRPr>
            </a:pPr>
            <a:r>
              <a:t>• Trivy scan (fail on CRITICAL)</a:t>
            </a:r>
          </a:p>
          <a:p>
            <a:pPr>
              <a:spcAft>
                <a:spcPts val="600"/>
              </a:spcAft>
              <a:defRPr sz="1300">
                <a:solidFill>
                  <a:srgbClr val="333333"/>
                </a:solidFill>
                <a:latin typeface="Calibri"/>
              </a:defRPr>
            </a:pPr>
            <a:r>
              <a:t>• Push to ACR (SHA tag)</a:t>
            </a:r>
          </a:p>
        </p:txBody>
      </p:sp>
      <p:sp>
        <p:nvSpPr>
          <p:cNvPr id="8" name="TextBox 7"/>
          <p:cNvSpPr txBox="1"/>
          <p:nvPr/>
        </p:nvSpPr>
        <p:spPr>
          <a:xfrm>
            <a:off x="3200400" y="1828800"/>
            <a:ext cx="2560320" cy="274320"/>
          </a:xfrm>
          <a:prstGeom prst="rect">
            <a:avLst/>
          </a:prstGeom>
          <a:noFill/>
        </p:spPr>
        <p:txBody>
          <a:bodyPr wrap="square">
            <a:spAutoFit/>
          </a:bodyPr>
          <a:lstStyle/>
          <a:p>
            <a:pPr algn="l">
              <a:spcAft>
                <a:spcPts val="400"/>
              </a:spcAft>
              <a:defRPr sz="1400" b="1" i="0">
                <a:solidFill>
                  <a:srgbClr val="10B981"/>
                </a:solidFill>
                <a:latin typeface="Calibri"/>
              </a:defRPr>
            </a:pPr>
            <a:r>
              <a:t>Backend CI</a:t>
            </a:r>
          </a:p>
        </p:txBody>
      </p:sp>
      <p:sp>
        <p:nvSpPr>
          <p:cNvPr id="9" name="TextBox 8"/>
          <p:cNvSpPr txBox="1"/>
          <p:nvPr/>
        </p:nvSpPr>
        <p:spPr>
          <a:xfrm>
            <a:off x="3200400" y="2194560"/>
            <a:ext cx="2743200" cy="2286000"/>
          </a:xfrm>
          <a:prstGeom prst="rect">
            <a:avLst/>
          </a:prstGeom>
          <a:noFill/>
        </p:spPr>
        <p:txBody>
          <a:bodyPr wrap="square">
            <a:spAutoFit/>
          </a:bodyPr>
          <a:lstStyle/>
          <a:p>
            <a:pPr>
              <a:spcAft>
                <a:spcPts val="600"/>
              </a:spcAft>
              <a:defRPr sz="1300">
                <a:solidFill>
                  <a:srgbClr val="333333"/>
                </a:solidFill>
                <a:latin typeface="Calibri"/>
              </a:defRPr>
            </a:pPr>
            <a:r>
              <a:t>• Checkout → Java 17 + Maven</a:t>
            </a:r>
          </a:p>
          <a:p>
            <a:pPr>
              <a:spcAft>
                <a:spcPts val="600"/>
              </a:spcAft>
              <a:defRPr sz="1300">
                <a:solidFill>
                  <a:srgbClr val="333333"/>
                </a:solidFill>
                <a:latin typeface="Calibri"/>
              </a:defRPr>
            </a:pPr>
            <a:r>
              <a:t>• mvn clean verify (compile + test)</a:t>
            </a:r>
          </a:p>
          <a:p>
            <a:pPr>
              <a:spcAft>
                <a:spcPts val="600"/>
              </a:spcAft>
              <a:defRPr sz="1300">
                <a:solidFill>
                  <a:srgbClr val="333333"/>
                </a:solidFill>
                <a:latin typeface="Calibri"/>
              </a:defRPr>
            </a:pPr>
            <a:r>
              <a:t>• Docker build (multi-stage)</a:t>
            </a:r>
          </a:p>
          <a:p>
            <a:pPr>
              <a:spcAft>
                <a:spcPts val="600"/>
              </a:spcAft>
              <a:defRPr sz="1300">
                <a:solidFill>
                  <a:srgbClr val="333333"/>
                </a:solidFill>
                <a:latin typeface="Calibri"/>
              </a:defRPr>
            </a:pPr>
            <a:r>
              <a:t>• Trivy scan (fail on CRITICAL)</a:t>
            </a:r>
          </a:p>
          <a:p>
            <a:pPr>
              <a:spcAft>
                <a:spcPts val="600"/>
              </a:spcAft>
              <a:defRPr sz="1300">
                <a:solidFill>
                  <a:srgbClr val="333333"/>
                </a:solidFill>
                <a:latin typeface="Calibri"/>
              </a:defRPr>
            </a:pPr>
            <a:r>
              <a:t>• Push to ACR (SHA tag)</a:t>
            </a:r>
          </a:p>
        </p:txBody>
      </p:sp>
      <p:sp>
        <p:nvSpPr>
          <p:cNvPr id="10" name="TextBox 9"/>
          <p:cNvSpPr txBox="1"/>
          <p:nvPr/>
        </p:nvSpPr>
        <p:spPr>
          <a:xfrm>
            <a:off x="6400800" y="1280160"/>
            <a:ext cx="5029200" cy="457200"/>
          </a:xfrm>
          <a:prstGeom prst="rect">
            <a:avLst/>
          </a:prstGeom>
          <a:noFill/>
        </p:spPr>
        <p:txBody>
          <a:bodyPr wrap="square">
            <a:spAutoFit/>
          </a:bodyPr>
          <a:lstStyle/>
          <a:p>
            <a:pPr algn="l">
              <a:spcAft>
                <a:spcPts val="400"/>
              </a:spcAft>
              <a:defRPr sz="2000" b="1" i="0">
                <a:solidFill>
                  <a:srgbClr val="1E3A5F"/>
                </a:solidFill>
                <a:latin typeface="Calibri"/>
              </a:defRPr>
            </a:pPr>
            <a:r>
              <a:t>Continuous Delivery</a:t>
            </a:r>
          </a:p>
        </p:txBody>
      </p:sp>
      <p:sp>
        <p:nvSpPr>
          <p:cNvPr id="11" name="TextBox 10"/>
          <p:cNvSpPr txBox="1"/>
          <p:nvPr/>
        </p:nvSpPr>
        <p:spPr>
          <a:xfrm>
            <a:off x="6400800" y="1828800"/>
            <a:ext cx="5029200" cy="2743200"/>
          </a:xfrm>
          <a:prstGeom prst="rect">
            <a:avLst/>
          </a:prstGeom>
          <a:noFill/>
        </p:spPr>
        <p:txBody>
          <a:bodyPr wrap="square">
            <a:spAutoFit/>
          </a:bodyPr>
          <a:lstStyle/>
          <a:p>
            <a:pPr>
              <a:spcAft>
                <a:spcPts val="600"/>
              </a:spcAft>
              <a:defRPr sz="1400">
                <a:solidFill>
                  <a:srgbClr val="333333"/>
                </a:solidFill>
                <a:latin typeface="Calibri"/>
              </a:defRPr>
            </a:pPr>
            <a:r>
              <a:t>• Azure Login (service principal)</a:t>
            </a:r>
          </a:p>
          <a:p>
            <a:pPr>
              <a:spcAft>
                <a:spcPts val="600"/>
              </a:spcAft>
              <a:defRPr sz="1400">
                <a:solidFill>
                  <a:srgbClr val="333333"/>
                </a:solidFill>
                <a:latin typeface="Calibri"/>
              </a:defRPr>
            </a:pPr>
            <a:r>
              <a:t>• Get AKS credentials</a:t>
            </a:r>
          </a:p>
          <a:p>
            <a:pPr>
              <a:spcAft>
                <a:spcPts val="600"/>
              </a:spcAft>
              <a:defRPr sz="1400">
                <a:solidFill>
                  <a:srgbClr val="333333"/>
                </a:solidFill>
                <a:latin typeface="Calibri"/>
              </a:defRPr>
            </a:pPr>
            <a:r>
              <a:t>• Detect inactive slot (blue/green)</a:t>
            </a:r>
          </a:p>
          <a:p>
            <a:pPr>
              <a:spcAft>
                <a:spcPts val="600"/>
              </a:spcAft>
              <a:defRPr sz="1400">
                <a:solidFill>
                  <a:srgbClr val="333333"/>
                </a:solidFill>
                <a:latin typeface="Calibri"/>
              </a:defRPr>
            </a:pPr>
            <a:r>
              <a:t>• Deploy MongoDB → Backend → Frontend</a:t>
            </a:r>
          </a:p>
          <a:p>
            <a:pPr>
              <a:spcAft>
                <a:spcPts val="600"/>
              </a:spcAft>
              <a:defRPr sz="1400">
                <a:solidFill>
                  <a:srgbClr val="333333"/>
                </a:solidFill>
                <a:latin typeface="Calibri"/>
              </a:defRPr>
            </a:pPr>
            <a:r>
              <a:t>• Health check (kubectl wait)</a:t>
            </a:r>
          </a:p>
          <a:p>
            <a:pPr>
              <a:spcAft>
                <a:spcPts val="600"/>
              </a:spcAft>
              <a:defRPr sz="1400">
                <a:solidFill>
                  <a:srgbClr val="333333"/>
                </a:solidFill>
                <a:latin typeface="Calibri"/>
              </a:defRPr>
            </a:pPr>
            <a:r>
              <a:t>• Switch traffic (patch selector)</a:t>
            </a:r>
          </a:p>
          <a:p>
            <a:pPr>
              <a:spcAft>
                <a:spcPts val="600"/>
              </a:spcAft>
              <a:defRPr sz="1400">
                <a:solidFill>
                  <a:srgbClr val="333333"/>
                </a:solidFill>
                <a:latin typeface="Calibri"/>
              </a:defRPr>
            </a:pPr>
            <a:r>
              <a:t>• Print deployment summary</a:t>
            </a:r>
          </a:p>
        </p:txBody>
      </p:sp>
      <p:sp>
        <p:nvSpPr>
          <p:cNvPr id="12" name="Rectangle 11"/>
          <p:cNvSpPr/>
          <p:nvPr/>
        </p:nvSpPr>
        <p:spPr>
          <a:xfrm>
            <a:off x="365760" y="4846320"/>
            <a:ext cx="11430000" cy="1645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937760"/>
            <a:ext cx="10972800" cy="365760"/>
          </a:xfrm>
          <a:prstGeom prst="rect">
            <a:avLst/>
          </a:prstGeom>
          <a:noFill/>
        </p:spPr>
        <p:txBody>
          <a:bodyPr wrap="square">
            <a:spAutoFit/>
          </a:bodyPr>
          <a:lstStyle/>
          <a:p>
            <a:pPr algn="l">
              <a:spcAft>
                <a:spcPts val="400"/>
              </a:spcAft>
              <a:defRPr sz="1600" b="1" i="0">
                <a:solidFill>
                  <a:srgbClr val="1E3A5F"/>
                </a:solidFill>
                <a:latin typeface="Calibri"/>
              </a:defRPr>
            </a:pPr>
            <a:r>
              <a:t>Key Design Decisions</a:t>
            </a:r>
          </a:p>
        </p:txBody>
      </p:sp>
      <p:sp>
        <p:nvSpPr>
          <p:cNvPr id="14" name="TextBox 13"/>
          <p:cNvSpPr txBox="1"/>
          <p:nvPr/>
        </p:nvSpPr>
        <p:spPr>
          <a:xfrm>
            <a:off x="548640" y="5303520"/>
            <a:ext cx="10972800" cy="1097280"/>
          </a:xfrm>
          <a:prstGeom prst="rect">
            <a:avLst/>
          </a:prstGeom>
          <a:noFill/>
        </p:spPr>
        <p:txBody>
          <a:bodyPr wrap="square">
            <a:spAutoFit/>
          </a:bodyPr>
          <a:lstStyle/>
          <a:p>
            <a:pPr>
              <a:spcAft>
                <a:spcPts val="600"/>
              </a:spcAft>
              <a:defRPr sz="1400">
                <a:solidFill>
                  <a:srgbClr val="333333"/>
                </a:solidFill>
                <a:latin typeface="Calibri"/>
              </a:defRPr>
            </a:pPr>
            <a:r>
              <a:t>• Image tags use Git SHA — every deployed image maps to an exact commit</a:t>
            </a:r>
          </a:p>
          <a:p>
            <a:pPr>
              <a:spcAft>
                <a:spcPts val="600"/>
              </a:spcAft>
              <a:defRPr sz="1400">
                <a:solidFill>
                  <a:srgbClr val="333333"/>
                </a:solidFill>
                <a:latin typeface="Calibri"/>
              </a:defRPr>
            </a:pPr>
            <a:r>
              <a:t>• Images only built on main branch; feature branches run tests only</a:t>
            </a:r>
          </a:p>
          <a:p>
            <a:pPr>
              <a:spcAft>
                <a:spcPts val="600"/>
              </a:spcAft>
              <a:defRPr sz="1400">
                <a:solidFill>
                  <a:srgbClr val="333333"/>
                </a:solidFill>
                <a:latin typeface="Calibri"/>
              </a:defRPr>
            </a:pPr>
            <a:r>
              <a:t>• Platform: GitHub Actions — zero setup, excellent Azure integration, 2,000 min/month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Deployment Strategy — Blue/Green</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0972800" cy="18288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365760">
                <a:tc>
                  <a:txBody>
                    <a:bodyPr/>
                    <a:lstStyle/>
                    <a:p>
                      <a:pPr>
                        <a:defRPr sz="1200" b="1">
                          <a:solidFill>
                            <a:srgbClr val="FFFFFF"/>
                          </a:solidFill>
                          <a:latin typeface="Calibri"/>
                        </a:defRPr>
                      </a:pPr>
                      <a:r>
                        <a:t>Strategy</a:t>
                      </a:r>
                    </a:p>
                  </a:txBody>
                  <a:tcPr>
                    <a:solidFill>
                      <a:srgbClr val="1E3A5F"/>
                    </a:solidFill>
                  </a:tcPr>
                </a:tc>
                <a:tc>
                  <a:txBody>
                    <a:bodyPr/>
                    <a:lstStyle/>
                    <a:p>
                      <a:pPr>
                        <a:defRPr sz="1200" b="1">
                          <a:solidFill>
                            <a:srgbClr val="FFFFFF"/>
                          </a:solidFill>
                          <a:latin typeface="Calibri"/>
                        </a:defRPr>
                      </a:pPr>
                      <a:r>
                        <a:t>Downtime</a:t>
                      </a:r>
                    </a:p>
                  </a:txBody>
                  <a:tcPr>
                    <a:solidFill>
                      <a:srgbClr val="1E3A5F"/>
                    </a:solidFill>
                  </a:tcPr>
                </a:tc>
                <a:tc>
                  <a:txBody>
                    <a:bodyPr/>
                    <a:lstStyle/>
                    <a:p>
                      <a:pPr>
                        <a:defRPr sz="1200" b="1">
                          <a:solidFill>
                            <a:srgbClr val="FFFFFF"/>
                          </a:solidFill>
                          <a:latin typeface="Calibri"/>
                        </a:defRPr>
                      </a:pPr>
                      <a:r>
                        <a:t>Rollback Speed</a:t>
                      </a:r>
                    </a:p>
                  </a:txBody>
                  <a:tcPr>
                    <a:solidFill>
                      <a:srgbClr val="1E3A5F"/>
                    </a:solidFill>
                  </a:tcPr>
                </a:tc>
                <a:tc>
                  <a:txBody>
                    <a:bodyPr/>
                    <a:lstStyle/>
                    <a:p>
                      <a:pPr>
                        <a:defRPr sz="1200" b="1">
                          <a:solidFill>
                            <a:srgbClr val="FFFFFF"/>
                          </a:solidFill>
                          <a:latin typeface="Calibri"/>
                        </a:defRPr>
                      </a:pPr>
                      <a:r>
                        <a:t>Resource Cost</a:t>
                      </a:r>
                    </a:p>
                  </a:txBody>
                  <a:tcPr>
                    <a:solidFill>
                      <a:srgbClr val="1E3A5F"/>
                    </a:solidFill>
                  </a:tcPr>
                </a:tc>
                <a:tc>
                  <a:txBody>
                    <a:bodyPr/>
                    <a:lstStyle/>
                    <a:p>
                      <a:pPr>
                        <a:defRPr sz="1200" b="1">
                          <a:solidFill>
                            <a:srgbClr val="FFFFFF"/>
                          </a:solidFill>
                          <a:latin typeface="Calibri"/>
                        </a:defRPr>
                      </a:pPr>
                      <a:r>
                        <a:t>Complexity</a:t>
                      </a:r>
                    </a:p>
                  </a:txBody>
                  <a:tcPr>
                    <a:solidFill>
                      <a:srgbClr val="1E3A5F"/>
                    </a:solidFill>
                  </a:tcPr>
                </a:tc>
              </a:tr>
              <a:tr h="365760">
                <a:tc>
                  <a:txBody>
                    <a:bodyPr/>
                    <a:lstStyle/>
                    <a:p>
                      <a:pPr>
                        <a:defRPr sz="1200">
                          <a:solidFill>
                            <a:srgbClr val="333333"/>
                          </a:solidFill>
                          <a:latin typeface="Calibri"/>
                        </a:defRPr>
                      </a:pPr>
                      <a:r>
                        <a:t>Recreate</a:t>
                      </a:r>
                    </a:p>
                  </a:txBody>
                  <a:tcPr/>
                </a:tc>
                <a:tc>
                  <a:txBody>
                    <a:bodyPr/>
                    <a:lstStyle/>
                    <a:p>
                      <a:pPr>
                        <a:defRPr sz="1200">
                          <a:solidFill>
                            <a:srgbClr val="333333"/>
                          </a:solidFill>
                          <a:latin typeface="Calibri"/>
                        </a:defRPr>
                      </a:pPr>
                      <a:r>
                        <a:t>Yes ✗</a:t>
                      </a:r>
                    </a:p>
                  </a:txBody>
                  <a:tcPr/>
                </a:tc>
                <a:tc>
                  <a:txBody>
                    <a:bodyPr/>
                    <a:lstStyle/>
                    <a:p>
                      <a:pPr>
                        <a:defRPr sz="1200">
                          <a:solidFill>
                            <a:srgbClr val="333333"/>
                          </a:solidFill>
                          <a:latin typeface="Calibri"/>
                        </a:defRPr>
                      </a:pPr>
                      <a:r>
                        <a:t>Slow</a:t>
                      </a:r>
                    </a:p>
                  </a:txBody>
                  <a:tcPr/>
                </a:tc>
                <a:tc>
                  <a:txBody>
                    <a:bodyPr/>
                    <a:lstStyle/>
                    <a:p>
                      <a:pPr>
                        <a:defRPr sz="1200">
                          <a:solidFill>
                            <a:srgbClr val="333333"/>
                          </a:solidFill>
                          <a:latin typeface="Calibri"/>
                        </a:defRPr>
                      </a:pPr>
                      <a:r>
                        <a:t>Low</a:t>
                      </a:r>
                    </a:p>
                  </a:txBody>
                  <a:tcPr/>
                </a:tc>
                <a:tc>
                  <a:txBody>
                    <a:bodyPr/>
                    <a:lstStyle/>
                    <a:p>
                      <a:pPr>
                        <a:defRPr sz="1200">
                          <a:solidFill>
                            <a:srgbClr val="333333"/>
                          </a:solidFill>
                          <a:latin typeface="Calibri"/>
                        </a:defRPr>
                      </a:pPr>
                      <a:r>
                        <a:t>Very Low</a:t>
                      </a:r>
                    </a:p>
                  </a:txBody>
                  <a:tcPr/>
                </a:tc>
              </a:tr>
              <a:tr h="365760">
                <a:tc>
                  <a:txBody>
                    <a:bodyPr/>
                    <a:lstStyle/>
                    <a:p>
                      <a:pPr>
                        <a:defRPr sz="1200">
                          <a:solidFill>
                            <a:srgbClr val="333333"/>
                          </a:solidFill>
                          <a:latin typeface="Calibri"/>
                        </a:defRPr>
                      </a:pPr>
                      <a:r>
                        <a:t>Rolling Update</a:t>
                      </a:r>
                    </a:p>
                  </a:txBody>
                  <a:tcPr>
                    <a:solidFill>
                      <a:srgbClr val="F0F0F0"/>
                    </a:solidFill>
                  </a:tcPr>
                </a:tc>
                <a:tc>
                  <a:txBody>
                    <a:bodyPr/>
                    <a:lstStyle/>
                    <a:p>
                      <a:pPr>
                        <a:defRPr sz="1200">
                          <a:solidFill>
                            <a:srgbClr val="333333"/>
                          </a:solidFill>
                          <a:latin typeface="Calibri"/>
                        </a:defRPr>
                      </a:pPr>
                      <a:r>
                        <a:t>No ✓</a:t>
                      </a:r>
                    </a:p>
                  </a:txBody>
                  <a:tcPr>
                    <a:solidFill>
                      <a:srgbClr val="F0F0F0"/>
                    </a:solidFill>
                  </a:tcPr>
                </a:tc>
                <a:tc>
                  <a:txBody>
                    <a:bodyPr/>
                    <a:lstStyle/>
                    <a:p>
                      <a:pPr>
                        <a:defRPr sz="1200">
                          <a:solidFill>
                            <a:srgbClr val="333333"/>
                          </a:solidFill>
                          <a:latin typeface="Calibri"/>
                        </a:defRPr>
                      </a:pPr>
                      <a:r>
                        <a:t>Moderate</a:t>
                      </a:r>
                    </a:p>
                  </a:txBody>
                  <a:tcPr>
                    <a:solidFill>
                      <a:srgbClr val="F0F0F0"/>
                    </a:solidFill>
                  </a:tcPr>
                </a:tc>
                <a:tc>
                  <a:txBody>
                    <a:bodyPr/>
                    <a:lstStyle/>
                    <a:p>
                      <a:pPr>
                        <a:defRPr sz="1200">
                          <a:solidFill>
                            <a:srgbClr val="333333"/>
                          </a:solidFill>
                          <a:latin typeface="Calibri"/>
                        </a:defRPr>
                      </a:pPr>
                      <a:r>
                        <a:t>Low</a:t>
                      </a:r>
                    </a:p>
                  </a:txBody>
                  <a:tcPr>
                    <a:solidFill>
                      <a:srgbClr val="F0F0F0"/>
                    </a:solidFill>
                  </a:tcPr>
                </a:tc>
                <a:tc>
                  <a:txBody>
                    <a:bodyPr/>
                    <a:lstStyle/>
                    <a:p>
                      <a:pPr>
                        <a:defRPr sz="1200">
                          <a:solidFill>
                            <a:srgbClr val="333333"/>
                          </a:solidFill>
                          <a:latin typeface="Calibri"/>
                        </a:defRPr>
                      </a:pPr>
                      <a:r>
                        <a:t>Low</a:t>
                      </a:r>
                    </a:p>
                  </a:txBody>
                  <a:tcPr>
                    <a:solidFill>
                      <a:srgbClr val="F0F0F0"/>
                    </a:solidFill>
                  </a:tcPr>
                </a:tc>
              </a:tr>
              <a:tr h="365760">
                <a:tc>
                  <a:txBody>
                    <a:bodyPr/>
                    <a:lstStyle/>
                    <a:p>
                      <a:pPr>
                        <a:defRPr sz="1200">
                          <a:solidFill>
                            <a:srgbClr val="333333"/>
                          </a:solidFill>
                          <a:latin typeface="Calibri"/>
                        </a:defRPr>
                      </a:pPr>
                      <a:r>
                        <a:t>Blue/Green ✓</a:t>
                      </a:r>
                    </a:p>
                  </a:txBody>
                  <a:tcPr/>
                </a:tc>
                <a:tc>
                  <a:txBody>
                    <a:bodyPr/>
                    <a:lstStyle/>
                    <a:p>
                      <a:pPr>
                        <a:defRPr sz="1200">
                          <a:solidFill>
                            <a:srgbClr val="333333"/>
                          </a:solidFill>
                          <a:latin typeface="Calibri"/>
                        </a:defRPr>
                      </a:pPr>
                      <a:r>
                        <a:t>No ✓</a:t>
                      </a:r>
                    </a:p>
                  </a:txBody>
                  <a:tcPr/>
                </a:tc>
                <a:tc>
                  <a:txBody>
                    <a:bodyPr/>
                    <a:lstStyle/>
                    <a:p>
                      <a:pPr>
                        <a:defRPr sz="1200">
                          <a:solidFill>
                            <a:srgbClr val="333333"/>
                          </a:solidFill>
                          <a:latin typeface="Calibri"/>
                        </a:defRPr>
                      </a:pPr>
                      <a:r>
                        <a:t>Instant (&lt;10s)</a:t>
                      </a:r>
                    </a:p>
                  </a:txBody>
                  <a:tcPr/>
                </a:tc>
                <a:tc>
                  <a:txBody>
                    <a:bodyPr/>
                    <a:lstStyle/>
                    <a:p>
                      <a:pPr>
                        <a:defRPr sz="1200">
                          <a:solidFill>
                            <a:srgbClr val="333333"/>
                          </a:solidFill>
                          <a:latin typeface="Calibri"/>
                        </a:defRPr>
                      </a:pPr>
                      <a:r>
                        <a:t>High (double)</a:t>
                      </a:r>
                    </a:p>
                  </a:txBody>
                  <a:tcPr/>
                </a:tc>
                <a:tc>
                  <a:txBody>
                    <a:bodyPr/>
                    <a:lstStyle/>
                    <a:p>
                      <a:pPr>
                        <a:defRPr sz="1200">
                          <a:solidFill>
                            <a:srgbClr val="333333"/>
                          </a:solidFill>
                          <a:latin typeface="Calibri"/>
                        </a:defRPr>
                      </a:pPr>
                      <a:r>
                        <a:t>Moderate</a:t>
                      </a:r>
                    </a:p>
                  </a:txBody>
                  <a:tcPr/>
                </a:tc>
              </a:tr>
              <a:tr h="365760">
                <a:tc>
                  <a:txBody>
                    <a:bodyPr/>
                    <a:lstStyle/>
                    <a:p>
                      <a:pPr>
                        <a:defRPr sz="1200">
                          <a:solidFill>
                            <a:srgbClr val="333333"/>
                          </a:solidFill>
                          <a:latin typeface="Calibri"/>
                        </a:defRPr>
                      </a:pPr>
                      <a:r>
                        <a:t>Canary</a:t>
                      </a:r>
                    </a:p>
                  </a:txBody>
                  <a:tcPr>
                    <a:solidFill>
                      <a:srgbClr val="F0F0F0"/>
                    </a:solidFill>
                  </a:tcPr>
                </a:tc>
                <a:tc>
                  <a:txBody>
                    <a:bodyPr/>
                    <a:lstStyle/>
                    <a:p>
                      <a:pPr>
                        <a:defRPr sz="1200">
                          <a:solidFill>
                            <a:srgbClr val="333333"/>
                          </a:solidFill>
                          <a:latin typeface="Calibri"/>
                        </a:defRPr>
                      </a:pPr>
                      <a:r>
                        <a:t>No ✓</a:t>
                      </a:r>
                    </a:p>
                  </a:txBody>
                  <a:tcPr>
                    <a:solidFill>
                      <a:srgbClr val="F0F0F0"/>
                    </a:solidFill>
                  </a:tcPr>
                </a:tc>
                <a:tc>
                  <a:txBody>
                    <a:bodyPr/>
                    <a:lstStyle/>
                    <a:p>
                      <a:pPr>
                        <a:defRPr sz="1200">
                          <a:solidFill>
                            <a:srgbClr val="333333"/>
                          </a:solidFill>
                          <a:latin typeface="Calibri"/>
                        </a:defRPr>
                      </a:pPr>
                      <a:r>
                        <a:t>Fast</a:t>
                      </a:r>
                    </a:p>
                  </a:txBody>
                  <a:tcPr>
                    <a:solidFill>
                      <a:srgbClr val="F0F0F0"/>
                    </a:solidFill>
                  </a:tcPr>
                </a:tc>
                <a:tc>
                  <a:txBody>
                    <a:bodyPr/>
                    <a:lstStyle/>
                    <a:p>
                      <a:pPr>
                        <a:defRPr sz="1200">
                          <a:solidFill>
                            <a:srgbClr val="333333"/>
                          </a:solidFill>
                          <a:latin typeface="Calibri"/>
                        </a:defRPr>
                      </a:pPr>
                      <a:r>
                        <a:t>Moderate</a:t>
                      </a:r>
                    </a:p>
                  </a:txBody>
                  <a:tcPr>
                    <a:solidFill>
                      <a:srgbClr val="F0F0F0"/>
                    </a:solidFill>
                  </a:tcPr>
                </a:tc>
                <a:tc>
                  <a:txBody>
                    <a:bodyPr/>
                    <a:lstStyle/>
                    <a:p>
                      <a:pPr>
                        <a:defRPr sz="1200">
                          <a:solidFill>
                            <a:srgbClr val="333333"/>
                          </a:solidFill>
                          <a:latin typeface="Calibri"/>
                        </a:defRPr>
                      </a:pPr>
                      <a:r>
                        <a:t>High (mesh)</a:t>
                      </a:r>
                    </a:p>
                  </a:txBody>
                  <a:tcPr>
                    <a:solidFill>
                      <a:srgbClr val="F0F0F0"/>
                    </a:solidFill>
                  </a:tcPr>
                </a:tc>
              </a:tr>
            </a:tbl>
          </a:graphicData>
        </a:graphic>
      </p:graphicFrame>
      <p:sp>
        <p:nvSpPr>
          <p:cNvPr id="6" name="TextBox 5"/>
          <p:cNvSpPr txBox="1"/>
          <p:nvPr/>
        </p:nvSpPr>
        <p:spPr>
          <a:xfrm>
            <a:off x="548640" y="3657600"/>
            <a:ext cx="5029200" cy="365760"/>
          </a:xfrm>
          <a:prstGeom prst="rect">
            <a:avLst/>
          </a:prstGeom>
          <a:noFill/>
        </p:spPr>
        <p:txBody>
          <a:bodyPr wrap="square">
            <a:spAutoFit/>
          </a:bodyPr>
          <a:lstStyle/>
          <a:p>
            <a:pPr algn="l">
              <a:spcAft>
                <a:spcPts val="400"/>
              </a:spcAft>
              <a:defRPr sz="1800" b="1" i="0">
                <a:solidFill>
                  <a:srgbClr val="1E3A5F"/>
                </a:solidFill>
                <a:latin typeface="Calibri"/>
              </a:defRPr>
            </a:pPr>
            <a:r>
              <a:t>How Blue/Green Works:</a:t>
            </a:r>
          </a:p>
        </p:txBody>
      </p:sp>
      <p:sp>
        <p:nvSpPr>
          <p:cNvPr id="7" name="TextBox 6"/>
          <p:cNvSpPr txBox="1"/>
          <p:nvPr/>
        </p:nvSpPr>
        <p:spPr>
          <a:xfrm>
            <a:off x="548640" y="4114800"/>
            <a:ext cx="5029200" cy="2286000"/>
          </a:xfrm>
          <a:prstGeom prst="rect">
            <a:avLst/>
          </a:prstGeom>
          <a:noFill/>
        </p:spPr>
        <p:txBody>
          <a:bodyPr wrap="square">
            <a:spAutoFit/>
          </a:bodyPr>
          <a:lstStyle/>
          <a:p>
            <a:pPr>
              <a:spcAft>
                <a:spcPts val="600"/>
              </a:spcAft>
              <a:defRPr sz="1500">
                <a:solidFill>
                  <a:srgbClr val="333333"/>
                </a:solidFill>
                <a:latin typeface="Calibri"/>
              </a:defRPr>
            </a:pPr>
            <a:r>
              <a:t>• 1. Identify inactive slot (auto-detect)</a:t>
            </a:r>
          </a:p>
          <a:p>
            <a:pPr>
              <a:spcAft>
                <a:spcPts val="600"/>
              </a:spcAft>
              <a:defRPr sz="1500">
                <a:solidFill>
                  <a:srgbClr val="333333"/>
                </a:solidFill>
                <a:latin typeface="Calibri"/>
              </a:defRPr>
            </a:pPr>
            <a:r>
              <a:t>• 2. Deploy new version to inactive slot</a:t>
            </a:r>
          </a:p>
          <a:p>
            <a:pPr>
              <a:spcAft>
                <a:spcPts val="600"/>
              </a:spcAft>
              <a:defRPr sz="1500">
                <a:solidFill>
                  <a:srgbClr val="333333"/>
                </a:solidFill>
                <a:latin typeface="Calibri"/>
              </a:defRPr>
            </a:pPr>
            <a:r>
              <a:t>• 3. Wait for health checks to pass</a:t>
            </a:r>
          </a:p>
          <a:p>
            <a:pPr>
              <a:spcAft>
                <a:spcPts val="600"/>
              </a:spcAft>
              <a:defRPr sz="1500">
                <a:solidFill>
                  <a:srgbClr val="333333"/>
                </a:solidFill>
                <a:latin typeface="Calibri"/>
              </a:defRPr>
            </a:pPr>
            <a:r>
              <a:t>• 4. Patch Service selector → switch traffic</a:t>
            </a:r>
          </a:p>
          <a:p>
            <a:pPr>
              <a:spcAft>
                <a:spcPts val="600"/>
              </a:spcAft>
              <a:defRPr sz="1500">
                <a:solidFill>
                  <a:srgbClr val="333333"/>
                </a:solidFill>
                <a:latin typeface="Calibri"/>
              </a:defRPr>
            </a:pPr>
            <a:r>
              <a:t>• 5. Old version remains on standby for rollback</a:t>
            </a:r>
          </a:p>
        </p:txBody>
      </p:sp>
      <p:sp>
        <p:nvSpPr>
          <p:cNvPr id="8" name="Rectangle 7"/>
          <p:cNvSpPr/>
          <p:nvPr/>
        </p:nvSpPr>
        <p:spPr>
          <a:xfrm>
            <a:off x="6217920" y="3657600"/>
            <a:ext cx="5303520" cy="2743200"/>
          </a:xfrm>
          <a:prstGeom prst="rect">
            <a:avLst/>
          </a:prstGeom>
          <a:solidFill>
            <a:srgbClr val="ECF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3749039"/>
            <a:ext cx="5029200" cy="365760"/>
          </a:xfrm>
          <a:prstGeom prst="rect">
            <a:avLst/>
          </a:prstGeom>
          <a:noFill/>
        </p:spPr>
        <p:txBody>
          <a:bodyPr wrap="square">
            <a:spAutoFit/>
          </a:bodyPr>
          <a:lstStyle/>
          <a:p>
            <a:pPr algn="l">
              <a:spcAft>
                <a:spcPts val="400"/>
              </a:spcAft>
              <a:defRPr sz="1800" b="1" i="0">
                <a:solidFill>
                  <a:srgbClr val="10B981"/>
                </a:solidFill>
                <a:latin typeface="Calibri"/>
              </a:defRPr>
            </a:pPr>
            <a:r>
              <a:t>Why Blue/Green?</a:t>
            </a:r>
          </a:p>
        </p:txBody>
      </p:sp>
      <p:sp>
        <p:nvSpPr>
          <p:cNvPr id="10" name="TextBox 9"/>
          <p:cNvSpPr txBox="1"/>
          <p:nvPr/>
        </p:nvSpPr>
        <p:spPr>
          <a:xfrm>
            <a:off x="6400800" y="4206240"/>
            <a:ext cx="5029200" cy="2011680"/>
          </a:xfrm>
          <a:prstGeom prst="rect">
            <a:avLst/>
          </a:prstGeom>
          <a:noFill/>
        </p:spPr>
        <p:txBody>
          <a:bodyPr wrap="square">
            <a:spAutoFit/>
          </a:bodyPr>
          <a:lstStyle/>
          <a:p>
            <a:pPr>
              <a:spcAft>
                <a:spcPts val="600"/>
              </a:spcAft>
              <a:defRPr sz="1500">
                <a:solidFill>
                  <a:srgbClr val="065F46"/>
                </a:solidFill>
                <a:latin typeface="Calibri"/>
              </a:defRPr>
            </a:pPr>
            <a:r>
              <a:t>• Zero downtime — users never see an error</a:t>
            </a:r>
          </a:p>
          <a:p>
            <a:pPr>
              <a:spcAft>
                <a:spcPts val="600"/>
              </a:spcAft>
              <a:defRPr sz="1500">
                <a:solidFill>
                  <a:srgbClr val="065F46"/>
                </a:solidFill>
                <a:latin typeface="Calibri"/>
              </a:defRPr>
            </a:pPr>
            <a:r>
              <a:t>• Instant rollback — patch selector back (&lt;10 seconds)</a:t>
            </a:r>
          </a:p>
          <a:p>
            <a:pPr>
              <a:spcAft>
                <a:spcPts val="600"/>
              </a:spcAft>
              <a:defRPr sz="1500">
                <a:solidFill>
                  <a:srgbClr val="065F46"/>
                </a:solidFill>
                <a:latin typeface="Calibri"/>
              </a:defRPr>
            </a:pPr>
            <a:r>
              <a:t>• Full testing of new version before traffic switch</a:t>
            </a:r>
          </a:p>
          <a:p>
            <a:pPr>
              <a:spcAft>
                <a:spcPts val="600"/>
              </a:spcAft>
              <a:defRPr sz="1500">
                <a:solidFill>
                  <a:srgbClr val="065F46"/>
                </a:solidFill>
                <a:latin typeface="Calibri"/>
              </a:defRPr>
            </a:pPr>
            <a:r>
              <a:t>• No service mesh dependency (unlike Canary)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Infrastructure as Code — Terraform</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5303520" cy="2194560"/>
        </p:xfrm>
        <a:graphic>
          <a:graphicData uri="http://schemas.openxmlformats.org/drawingml/2006/table">
            <a:tbl>
              <a:tblPr firstRow="1" bandRow="1">
                <a:tableStyleId>{5C22544A-7EE6-4342-B048-85BDC9FD1C3A}</a:tableStyleId>
              </a:tblPr>
              <a:tblGrid>
                <a:gridCol w="1325880"/>
                <a:gridCol w="1325880"/>
                <a:gridCol w="1325880"/>
                <a:gridCol w="1325880"/>
              </a:tblGrid>
              <a:tr h="365760">
                <a:tc>
                  <a:txBody>
                    <a:bodyPr/>
                    <a:lstStyle/>
                    <a:p>
                      <a:pPr>
                        <a:defRPr sz="1100" b="1">
                          <a:solidFill>
                            <a:srgbClr val="FFFFFF"/>
                          </a:solidFill>
                          <a:latin typeface="Calibri"/>
                        </a:defRPr>
                      </a:pPr>
                      <a:r>
                        <a:t>Criterion</a:t>
                      </a:r>
                    </a:p>
                  </a:txBody>
                  <a:tcPr>
                    <a:solidFill>
                      <a:srgbClr val="1E3A5F"/>
                    </a:solidFill>
                  </a:tcPr>
                </a:tc>
                <a:tc>
                  <a:txBody>
                    <a:bodyPr/>
                    <a:lstStyle/>
                    <a:p>
                      <a:pPr>
                        <a:defRPr sz="1100" b="1">
                          <a:solidFill>
                            <a:srgbClr val="FFFFFF"/>
                          </a:solidFill>
                          <a:latin typeface="Calibri"/>
                        </a:defRPr>
                      </a:pPr>
                      <a:r>
                        <a:t>Terraform</a:t>
                      </a:r>
                    </a:p>
                  </a:txBody>
                  <a:tcPr>
                    <a:solidFill>
                      <a:srgbClr val="1E3A5F"/>
                    </a:solidFill>
                  </a:tcPr>
                </a:tc>
                <a:tc>
                  <a:txBody>
                    <a:bodyPr/>
                    <a:lstStyle/>
                    <a:p>
                      <a:pPr>
                        <a:defRPr sz="1100" b="1">
                          <a:solidFill>
                            <a:srgbClr val="FFFFFF"/>
                          </a:solidFill>
                          <a:latin typeface="Calibri"/>
                        </a:defRPr>
                      </a:pPr>
                      <a:r>
                        <a:t>Bicep</a:t>
                      </a:r>
                    </a:p>
                  </a:txBody>
                  <a:tcPr>
                    <a:solidFill>
                      <a:srgbClr val="1E3A5F"/>
                    </a:solidFill>
                  </a:tcPr>
                </a:tc>
                <a:tc>
                  <a:txBody>
                    <a:bodyPr/>
                    <a:lstStyle/>
                    <a:p>
                      <a:pPr>
                        <a:defRPr sz="1100" b="1">
                          <a:solidFill>
                            <a:srgbClr val="FFFFFF"/>
                          </a:solidFill>
                          <a:latin typeface="Calibri"/>
                        </a:defRPr>
                      </a:pPr>
                      <a:r>
                        <a:t>Pulumi</a:t>
                      </a:r>
                    </a:p>
                  </a:txBody>
                  <a:tcPr>
                    <a:solidFill>
                      <a:srgbClr val="1E3A5F"/>
                    </a:solidFill>
                  </a:tcPr>
                </a:tc>
              </a:tr>
              <a:tr h="365760">
                <a:tc>
                  <a:txBody>
                    <a:bodyPr/>
                    <a:lstStyle/>
                    <a:p>
                      <a:pPr>
                        <a:defRPr sz="1100">
                          <a:solidFill>
                            <a:srgbClr val="333333"/>
                          </a:solidFill>
                          <a:latin typeface="Calibri"/>
                        </a:defRPr>
                      </a:pPr>
                      <a:r>
                        <a:t>Cloud</a:t>
                      </a:r>
                    </a:p>
                  </a:txBody>
                  <a:tcPr/>
                </a:tc>
                <a:tc>
                  <a:txBody>
                    <a:bodyPr/>
                    <a:lstStyle/>
                    <a:p>
                      <a:pPr>
                        <a:defRPr sz="1100">
                          <a:solidFill>
                            <a:srgbClr val="333333"/>
                          </a:solidFill>
                          <a:latin typeface="Calibri"/>
                        </a:defRPr>
                      </a:pPr>
                      <a:r>
                        <a:t>Multi-cloud</a:t>
                      </a:r>
                    </a:p>
                  </a:txBody>
                  <a:tcPr/>
                </a:tc>
                <a:tc>
                  <a:txBody>
                    <a:bodyPr/>
                    <a:lstStyle/>
                    <a:p>
                      <a:pPr>
                        <a:defRPr sz="1100">
                          <a:solidFill>
                            <a:srgbClr val="333333"/>
                          </a:solidFill>
                          <a:latin typeface="Calibri"/>
                        </a:defRPr>
                      </a:pPr>
                      <a:r>
                        <a:t>Azure only</a:t>
                      </a:r>
                    </a:p>
                  </a:txBody>
                  <a:tcPr/>
                </a:tc>
                <a:tc>
                  <a:txBody>
                    <a:bodyPr/>
                    <a:lstStyle/>
                    <a:p>
                      <a:pPr>
                        <a:defRPr sz="1100">
                          <a:solidFill>
                            <a:srgbClr val="333333"/>
                          </a:solidFill>
                          <a:latin typeface="Calibri"/>
                        </a:defRPr>
                      </a:pPr>
                      <a:r>
                        <a:t>Multi-cloud</a:t>
                      </a:r>
                    </a:p>
                  </a:txBody>
                  <a:tcPr/>
                </a:tc>
              </a:tr>
              <a:tr h="365760">
                <a:tc>
                  <a:txBody>
                    <a:bodyPr/>
                    <a:lstStyle/>
                    <a:p>
                      <a:pPr>
                        <a:defRPr sz="1100">
                          <a:solidFill>
                            <a:srgbClr val="333333"/>
                          </a:solidFill>
                          <a:latin typeface="Calibri"/>
                        </a:defRPr>
                      </a:pPr>
                      <a:r>
                        <a:t>Language</a:t>
                      </a:r>
                    </a:p>
                  </a:txBody>
                  <a:tcPr>
                    <a:solidFill>
                      <a:srgbClr val="F0F0F0"/>
                    </a:solidFill>
                  </a:tcPr>
                </a:tc>
                <a:tc>
                  <a:txBody>
                    <a:bodyPr/>
                    <a:lstStyle/>
                    <a:p>
                      <a:pPr>
                        <a:defRPr sz="1100">
                          <a:solidFill>
                            <a:srgbClr val="333333"/>
                          </a:solidFill>
                          <a:latin typeface="Calibri"/>
                        </a:defRPr>
                      </a:pPr>
                      <a:r>
                        <a:t>HCL</a:t>
                      </a:r>
                    </a:p>
                  </a:txBody>
                  <a:tcPr>
                    <a:solidFill>
                      <a:srgbClr val="F0F0F0"/>
                    </a:solidFill>
                  </a:tcPr>
                </a:tc>
                <a:tc>
                  <a:txBody>
                    <a:bodyPr/>
                    <a:lstStyle/>
                    <a:p>
                      <a:pPr>
                        <a:defRPr sz="1100">
                          <a:solidFill>
                            <a:srgbClr val="333333"/>
                          </a:solidFill>
                          <a:latin typeface="Calibri"/>
                        </a:defRPr>
                      </a:pPr>
                      <a:r>
                        <a:t>Bicep DSL</a:t>
                      </a:r>
                    </a:p>
                  </a:txBody>
                  <a:tcPr>
                    <a:solidFill>
                      <a:srgbClr val="F0F0F0"/>
                    </a:solidFill>
                  </a:tcPr>
                </a:tc>
                <a:tc>
                  <a:txBody>
                    <a:bodyPr/>
                    <a:lstStyle/>
                    <a:p>
                      <a:pPr>
                        <a:defRPr sz="1100">
                          <a:solidFill>
                            <a:srgbClr val="333333"/>
                          </a:solidFill>
                          <a:latin typeface="Calibri"/>
                        </a:defRPr>
                      </a:pPr>
                      <a:r>
                        <a:t>Python/TS/Go</a:t>
                      </a:r>
                    </a:p>
                  </a:txBody>
                  <a:tcPr>
                    <a:solidFill>
                      <a:srgbClr val="F0F0F0"/>
                    </a:solidFill>
                  </a:tcPr>
                </a:tc>
              </a:tr>
              <a:tr h="365760">
                <a:tc>
                  <a:txBody>
                    <a:bodyPr/>
                    <a:lstStyle/>
                    <a:p>
                      <a:pPr>
                        <a:defRPr sz="1100">
                          <a:solidFill>
                            <a:srgbClr val="333333"/>
                          </a:solidFill>
                          <a:latin typeface="Calibri"/>
                        </a:defRPr>
                      </a:pPr>
                      <a:r>
                        <a:t>State</a:t>
                      </a:r>
                    </a:p>
                  </a:txBody>
                  <a:tcPr/>
                </a:tc>
                <a:tc>
                  <a:txBody>
                    <a:bodyPr/>
                    <a:lstStyle/>
                    <a:p>
                      <a:pPr>
                        <a:defRPr sz="1100">
                          <a:solidFill>
                            <a:srgbClr val="333333"/>
                          </a:solidFill>
                          <a:latin typeface="Calibri"/>
                        </a:defRPr>
                      </a:pPr>
                      <a:r>
                        <a:t>Explicit file</a:t>
                      </a:r>
                    </a:p>
                  </a:txBody>
                  <a:tcPr/>
                </a:tc>
                <a:tc>
                  <a:txBody>
                    <a:bodyPr/>
                    <a:lstStyle/>
                    <a:p>
                      <a:pPr>
                        <a:defRPr sz="1100">
                          <a:solidFill>
                            <a:srgbClr val="333333"/>
                          </a:solidFill>
                          <a:latin typeface="Calibri"/>
                        </a:defRPr>
                      </a:pPr>
                      <a:r>
                        <a:t>Azure-managed</a:t>
                      </a:r>
                    </a:p>
                  </a:txBody>
                  <a:tcPr/>
                </a:tc>
                <a:tc>
                  <a:txBody>
                    <a:bodyPr/>
                    <a:lstStyle/>
                    <a:p>
                      <a:pPr>
                        <a:defRPr sz="1100">
                          <a:solidFill>
                            <a:srgbClr val="333333"/>
                          </a:solidFill>
                          <a:latin typeface="Calibri"/>
                        </a:defRPr>
                      </a:pPr>
                      <a:r>
                        <a:t>Built-in</a:t>
                      </a:r>
                    </a:p>
                  </a:txBody>
                  <a:tcPr/>
                </a:tc>
              </a:tr>
              <a:tr h="365760">
                <a:tc>
                  <a:txBody>
                    <a:bodyPr/>
                    <a:lstStyle/>
                    <a:p>
                      <a:pPr>
                        <a:defRPr sz="1100">
                          <a:solidFill>
                            <a:srgbClr val="333333"/>
                          </a:solidFill>
                          <a:latin typeface="Calibri"/>
                        </a:defRPr>
                      </a:pPr>
                      <a:r>
                        <a:t>Community</a:t>
                      </a:r>
                    </a:p>
                  </a:txBody>
                  <a:tcPr>
                    <a:solidFill>
                      <a:srgbClr val="F0F0F0"/>
                    </a:solidFill>
                  </a:tcPr>
                </a:tc>
                <a:tc>
                  <a:txBody>
                    <a:bodyPr/>
                    <a:lstStyle/>
                    <a:p>
                      <a:pPr>
                        <a:defRPr sz="1100">
                          <a:solidFill>
                            <a:srgbClr val="333333"/>
                          </a:solidFill>
                          <a:latin typeface="Calibri"/>
                        </a:defRPr>
                      </a:pPr>
                      <a:r>
                        <a:t>Largest</a:t>
                      </a:r>
                    </a:p>
                  </a:txBody>
                  <a:tcPr>
                    <a:solidFill>
                      <a:srgbClr val="F0F0F0"/>
                    </a:solidFill>
                  </a:tcPr>
                </a:tc>
                <a:tc>
                  <a:txBody>
                    <a:bodyPr/>
                    <a:lstStyle/>
                    <a:p>
                      <a:pPr>
                        <a:defRPr sz="1100">
                          <a:solidFill>
                            <a:srgbClr val="333333"/>
                          </a:solidFill>
                          <a:latin typeface="Calibri"/>
                        </a:defRPr>
                      </a:pPr>
                      <a:r>
                        <a:t>Growing</a:t>
                      </a:r>
                    </a:p>
                  </a:txBody>
                  <a:tcPr>
                    <a:solidFill>
                      <a:srgbClr val="F0F0F0"/>
                    </a:solidFill>
                  </a:tcPr>
                </a:tc>
                <a:tc>
                  <a:txBody>
                    <a:bodyPr/>
                    <a:lstStyle/>
                    <a:p>
                      <a:pPr>
                        <a:defRPr sz="1100">
                          <a:solidFill>
                            <a:srgbClr val="333333"/>
                          </a:solidFill>
                          <a:latin typeface="Calibri"/>
                        </a:defRPr>
                      </a:pPr>
                      <a:r>
                        <a:t>Moderate</a:t>
                      </a:r>
                    </a:p>
                  </a:txBody>
                  <a:tcPr>
                    <a:solidFill>
                      <a:srgbClr val="F0F0F0"/>
                    </a:solidFill>
                  </a:tcPr>
                </a:tc>
              </a:tr>
              <a:tr h="365760">
                <a:tc>
                  <a:txBody>
                    <a:bodyPr/>
                    <a:lstStyle/>
                    <a:p>
                      <a:pPr>
                        <a:defRPr sz="1100">
                          <a:solidFill>
                            <a:srgbClr val="333333"/>
                          </a:solidFill>
                          <a:latin typeface="Calibri"/>
                        </a:defRPr>
                      </a:pPr>
                      <a:r>
                        <a:t>Maturity</a:t>
                      </a:r>
                    </a:p>
                  </a:txBody>
                  <a:tcPr/>
                </a:tc>
                <a:tc>
                  <a:txBody>
                    <a:bodyPr/>
                    <a:lstStyle/>
                    <a:p>
                      <a:pPr>
                        <a:defRPr sz="1100">
                          <a:solidFill>
                            <a:srgbClr val="333333"/>
                          </a:solidFill>
                          <a:latin typeface="Calibri"/>
                        </a:defRPr>
                      </a:pPr>
                      <a:r>
                        <a:t>2014</a:t>
                      </a:r>
                    </a:p>
                  </a:txBody>
                  <a:tcPr/>
                </a:tc>
                <a:tc>
                  <a:txBody>
                    <a:bodyPr/>
                    <a:lstStyle/>
                    <a:p>
                      <a:pPr>
                        <a:defRPr sz="1100">
                          <a:solidFill>
                            <a:srgbClr val="333333"/>
                          </a:solidFill>
                          <a:latin typeface="Calibri"/>
                        </a:defRPr>
                      </a:pPr>
                      <a:r>
                        <a:t>2020</a:t>
                      </a:r>
                    </a:p>
                  </a:txBody>
                  <a:tcPr/>
                </a:tc>
                <a:tc>
                  <a:txBody>
                    <a:bodyPr/>
                    <a:lstStyle/>
                    <a:p>
                      <a:pPr>
                        <a:defRPr sz="1100">
                          <a:solidFill>
                            <a:srgbClr val="333333"/>
                          </a:solidFill>
                          <a:latin typeface="Calibri"/>
                        </a:defRPr>
                      </a:pPr>
                      <a:r>
                        <a:t>2018</a:t>
                      </a:r>
                    </a:p>
                  </a:txBody>
                  <a:tcPr/>
                </a:tc>
              </a:tr>
            </a:tbl>
          </a:graphicData>
        </a:graphic>
      </p:graphicFrame>
      <p:sp>
        <p:nvSpPr>
          <p:cNvPr id="6" name="TextBox 5"/>
          <p:cNvSpPr txBox="1"/>
          <p:nvPr/>
        </p:nvSpPr>
        <p:spPr>
          <a:xfrm>
            <a:off x="6400800" y="1371600"/>
            <a:ext cx="5029200" cy="365760"/>
          </a:xfrm>
          <a:prstGeom prst="rect">
            <a:avLst/>
          </a:prstGeom>
          <a:noFill/>
        </p:spPr>
        <p:txBody>
          <a:bodyPr wrap="square">
            <a:spAutoFit/>
          </a:bodyPr>
          <a:lstStyle/>
          <a:p>
            <a:pPr algn="l">
              <a:spcAft>
                <a:spcPts val="400"/>
              </a:spcAft>
              <a:defRPr sz="1800" b="1" i="0">
                <a:solidFill>
                  <a:srgbClr val="1E3A5F"/>
                </a:solidFill>
                <a:latin typeface="Calibri"/>
              </a:defRPr>
            </a:pPr>
            <a:r>
              <a:t>Resources Provisioned:</a:t>
            </a:r>
          </a:p>
        </p:txBody>
      </p:sp>
      <p:sp>
        <p:nvSpPr>
          <p:cNvPr id="7" name="TextBox 6"/>
          <p:cNvSpPr txBox="1"/>
          <p:nvPr/>
        </p:nvSpPr>
        <p:spPr>
          <a:xfrm>
            <a:off x="6400800" y="1828800"/>
            <a:ext cx="5029200" cy="2743200"/>
          </a:xfrm>
          <a:prstGeom prst="rect">
            <a:avLst/>
          </a:prstGeom>
          <a:noFill/>
        </p:spPr>
        <p:txBody>
          <a:bodyPr wrap="square">
            <a:spAutoFit/>
          </a:bodyPr>
          <a:lstStyle/>
          <a:p>
            <a:pPr>
              <a:spcAft>
                <a:spcPts val="600"/>
              </a:spcAft>
              <a:defRPr sz="1400">
                <a:solidFill>
                  <a:srgbClr val="333333"/>
                </a:solidFill>
                <a:latin typeface="Calibri"/>
              </a:defRPr>
            </a:pPr>
            <a:r>
              <a:t>• Resource Group (rg-{project}-{env})</a:t>
            </a:r>
          </a:p>
          <a:p>
            <a:pPr>
              <a:spcAft>
                <a:spcPts val="600"/>
              </a:spcAft>
              <a:defRPr sz="1400">
                <a:solidFill>
                  <a:srgbClr val="333333"/>
                </a:solidFill>
                <a:latin typeface="Calibri"/>
              </a:defRPr>
            </a:pPr>
            <a:r>
              <a:t>• VNet + Subnet (10.0.0.0/16)</a:t>
            </a:r>
          </a:p>
          <a:p>
            <a:pPr>
              <a:spcAft>
                <a:spcPts val="600"/>
              </a:spcAft>
              <a:defRPr sz="1400">
                <a:solidFill>
                  <a:srgbClr val="333333"/>
                </a:solidFill>
                <a:latin typeface="Calibri"/>
              </a:defRPr>
            </a:pPr>
            <a:r>
              <a:t>• AKS Cluster (1–5 nodes, B2s, autoscale)</a:t>
            </a:r>
          </a:p>
          <a:p>
            <a:pPr>
              <a:spcAft>
                <a:spcPts val="600"/>
              </a:spcAft>
              <a:defRPr sz="1400">
                <a:solidFill>
                  <a:srgbClr val="333333"/>
                </a:solidFill>
                <a:latin typeface="Calibri"/>
              </a:defRPr>
            </a:pPr>
            <a:r>
              <a:t>• Container Registry (ACR, Basic SKU)</a:t>
            </a:r>
          </a:p>
          <a:p>
            <a:pPr>
              <a:spcAft>
                <a:spcPts val="600"/>
              </a:spcAft>
              <a:defRPr sz="1400">
                <a:solidFill>
                  <a:srgbClr val="333333"/>
                </a:solidFill>
                <a:latin typeface="Calibri"/>
              </a:defRPr>
            </a:pPr>
            <a:r>
              <a:t>• Log Analytics Workspace (30-day retention)</a:t>
            </a:r>
          </a:p>
          <a:p>
            <a:pPr>
              <a:spcAft>
                <a:spcPts val="600"/>
              </a:spcAft>
              <a:defRPr sz="1400">
                <a:solidFill>
                  <a:srgbClr val="333333"/>
                </a:solidFill>
                <a:latin typeface="Calibri"/>
              </a:defRPr>
            </a:pPr>
            <a:r>
              <a:t>• Storage Account + Blob (backups)</a:t>
            </a:r>
          </a:p>
          <a:p>
            <a:pPr>
              <a:spcAft>
                <a:spcPts val="600"/>
              </a:spcAft>
              <a:defRPr sz="1400">
                <a:solidFill>
                  <a:srgbClr val="333333"/>
                </a:solidFill>
                <a:latin typeface="Calibri"/>
              </a:defRPr>
            </a:pPr>
            <a:r>
              <a:t>• Role Assignment (AKS → AcrPull)</a:t>
            </a:r>
          </a:p>
        </p:txBody>
      </p:sp>
      <p:sp>
        <p:nvSpPr>
          <p:cNvPr id="8" name="Rectangle 7"/>
          <p:cNvSpPr/>
          <p:nvPr/>
        </p:nvSpPr>
        <p:spPr>
          <a:xfrm>
            <a:off x="365760" y="5029200"/>
            <a:ext cx="11430000" cy="13716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120640"/>
            <a:ext cx="10972800" cy="365760"/>
          </a:xfrm>
          <a:prstGeom prst="rect">
            <a:avLst/>
          </a:prstGeom>
          <a:noFill/>
        </p:spPr>
        <p:txBody>
          <a:bodyPr wrap="square">
            <a:spAutoFit/>
          </a:bodyPr>
          <a:lstStyle/>
          <a:p>
            <a:pPr algn="l">
              <a:spcAft>
                <a:spcPts val="400"/>
              </a:spcAft>
              <a:defRPr sz="1600" b="1" i="0">
                <a:solidFill>
                  <a:srgbClr val="1E3A5F"/>
                </a:solidFill>
                <a:latin typeface="Calibri"/>
              </a:defRPr>
            </a:pPr>
            <a:r>
              <a:t>Destroy &amp; Rebuild Capability</a:t>
            </a:r>
          </a:p>
        </p:txBody>
      </p:sp>
      <p:sp>
        <p:nvSpPr>
          <p:cNvPr id="10" name="TextBox 9"/>
          <p:cNvSpPr txBox="1"/>
          <p:nvPr/>
        </p:nvSpPr>
        <p:spPr>
          <a:xfrm>
            <a:off x="548640" y="5577840"/>
            <a:ext cx="10972800" cy="731520"/>
          </a:xfrm>
          <a:prstGeom prst="rect">
            <a:avLst/>
          </a:prstGeom>
          <a:noFill/>
        </p:spPr>
        <p:txBody>
          <a:bodyPr wrap="square">
            <a:spAutoFit/>
          </a:bodyPr>
          <a:lstStyle/>
          <a:p>
            <a:pPr algn="l">
              <a:spcAft>
                <a:spcPts val="400"/>
              </a:spcAft>
              <a:defRPr sz="1400" b="0" i="0">
                <a:solidFill>
                  <a:srgbClr val="333333"/>
                </a:solidFill>
                <a:latin typeface="Calibri"/>
              </a:defRPr>
            </a:pPr>
            <a:r>
              <a:t>terraform destroy removes ALL infrastructure. terraform apply re-creates it identically. Total rebuild: ~15–20 minutes. This validates IaC completeness and eliminates configuration drift.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Container Orchestration — AKS + Helm</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029200" cy="365760"/>
          </a:xfrm>
          <a:prstGeom prst="rect">
            <a:avLst/>
          </a:prstGeom>
          <a:noFill/>
        </p:spPr>
        <p:txBody>
          <a:bodyPr wrap="square">
            <a:spAutoFit/>
          </a:bodyPr>
          <a:lstStyle/>
          <a:p>
            <a:pPr algn="l">
              <a:spcAft>
                <a:spcPts val="400"/>
              </a:spcAft>
              <a:defRPr sz="2000" b="1" i="0">
                <a:solidFill>
                  <a:srgbClr val="1E3A5F"/>
                </a:solidFill>
                <a:latin typeface="Calibri"/>
              </a:defRPr>
            </a:pPr>
            <a:r>
              <a:t>AKS Cluster Configuration</a:t>
            </a:r>
          </a:p>
        </p:txBody>
      </p:sp>
      <p:graphicFrame>
        <p:nvGraphicFramePr>
          <p:cNvPr id="6" name="Table 5"/>
          <p:cNvGraphicFramePr>
            <a:graphicFrameLocks noGrp="1"/>
          </p:cNvGraphicFramePr>
          <p:nvPr/>
        </p:nvGraphicFramePr>
        <p:xfrm>
          <a:off x="548640" y="1920240"/>
          <a:ext cx="5303520" cy="2560320"/>
        </p:xfrm>
        <a:graphic>
          <a:graphicData uri="http://schemas.openxmlformats.org/drawingml/2006/table">
            <a:tbl>
              <a:tblPr firstRow="1" bandRow="1">
                <a:tableStyleId>{5C22544A-7EE6-4342-B048-85BDC9FD1C3A}</a:tableStyleId>
              </a:tblPr>
              <a:tblGrid>
                <a:gridCol w="2651760"/>
                <a:gridCol w="2651760"/>
              </a:tblGrid>
              <a:tr h="365760">
                <a:tc>
                  <a:txBody>
                    <a:bodyPr/>
                    <a:lstStyle/>
                    <a:p>
                      <a:pPr>
                        <a:defRPr sz="1100" b="1">
                          <a:solidFill>
                            <a:srgbClr val="FFFFFF"/>
                          </a:solidFill>
                          <a:latin typeface="Calibri"/>
                        </a:defRPr>
                      </a:pPr>
                      <a:r>
                        <a:t>Setting</a:t>
                      </a:r>
                    </a:p>
                  </a:txBody>
                  <a:tcPr>
                    <a:solidFill>
                      <a:srgbClr val="1E3A5F"/>
                    </a:solidFill>
                  </a:tcPr>
                </a:tc>
                <a:tc>
                  <a:txBody>
                    <a:bodyPr/>
                    <a:lstStyle/>
                    <a:p>
                      <a:pPr>
                        <a:defRPr sz="1100" b="1">
                          <a:solidFill>
                            <a:srgbClr val="FFFFFF"/>
                          </a:solidFill>
                          <a:latin typeface="Calibri"/>
                        </a:defRPr>
                      </a:pPr>
                      <a:r>
                        <a:t>Value</a:t>
                      </a:r>
                    </a:p>
                  </a:txBody>
                  <a:tcPr>
                    <a:solidFill>
                      <a:srgbClr val="1E3A5F"/>
                    </a:solidFill>
                  </a:tcPr>
                </a:tc>
              </a:tr>
              <a:tr h="365760">
                <a:tc>
                  <a:txBody>
                    <a:bodyPr/>
                    <a:lstStyle/>
                    <a:p>
                      <a:pPr>
                        <a:defRPr sz="1100">
                          <a:solidFill>
                            <a:srgbClr val="333333"/>
                          </a:solidFill>
                          <a:latin typeface="Calibri"/>
                        </a:defRPr>
                      </a:pPr>
                      <a:r>
                        <a:t>Kubernetes</a:t>
                      </a:r>
                    </a:p>
                  </a:txBody>
                  <a:tcPr/>
                </a:tc>
                <a:tc>
                  <a:txBody>
                    <a:bodyPr/>
                    <a:lstStyle/>
                    <a:p>
                      <a:pPr>
                        <a:defRPr sz="1100">
                          <a:solidFill>
                            <a:srgbClr val="333333"/>
                          </a:solidFill>
                          <a:latin typeface="Calibri"/>
                        </a:defRPr>
                      </a:pPr>
                      <a:r>
                        <a:t>1.29</a:t>
                      </a:r>
                    </a:p>
                  </a:txBody>
                  <a:tcPr/>
                </a:tc>
              </a:tr>
              <a:tr h="365760">
                <a:tc>
                  <a:txBody>
                    <a:bodyPr/>
                    <a:lstStyle/>
                    <a:p>
                      <a:pPr>
                        <a:defRPr sz="1100">
                          <a:solidFill>
                            <a:srgbClr val="333333"/>
                          </a:solidFill>
                          <a:latin typeface="Calibri"/>
                        </a:defRPr>
                      </a:pPr>
                      <a:r>
                        <a:t>Node VM</a:t>
                      </a:r>
                    </a:p>
                  </a:txBody>
                  <a:tcPr>
                    <a:solidFill>
                      <a:srgbClr val="F0F0F0"/>
                    </a:solidFill>
                  </a:tcPr>
                </a:tc>
                <a:tc>
                  <a:txBody>
                    <a:bodyPr/>
                    <a:lstStyle/>
                    <a:p>
                      <a:pPr>
                        <a:defRPr sz="1100">
                          <a:solidFill>
                            <a:srgbClr val="333333"/>
                          </a:solidFill>
                          <a:latin typeface="Calibri"/>
                        </a:defRPr>
                      </a:pPr>
                      <a:r>
                        <a:t>Standard_B2s (2 vCPU, 4 GB)</a:t>
                      </a:r>
                    </a:p>
                  </a:txBody>
                  <a:tcPr>
                    <a:solidFill>
                      <a:srgbClr val="F0F0F0"/>
                    </a:solidFill>
                  </a:tcPr>
                </a:tc>
              </a:tr>
              <a:tr h="365760">
                <a:tc>
                  <a:txBody>
                    <a:bodyPr/>
                    <a:lstStyle/>
                    <a:p>
                      <a:pPr>
                        <a:defRPr sz="1100">
                          <a:solidFill>
                            <a:srgbClr val="333333"/>
                          </a:solidFill>
                          <a:latin typeface="Calibri"/>
                        </a:defRPr>
                      </a:pPr>
                      <a:r>
                        <a:t>Node count</a:t>
                      </a:r>
                    </a:p>
                  </a:txBody>
                  <a:tcPr/>
                </a:tc>
                <a:tc>
                  <a:txBody>
                    <a:bodyPr/>
                    <a:lstStyle/>
                    <a:p>
                      <a:pPr>
                        <a:defRPr sz="1100">
                          <a:solidFill>
                            <a:srgbClr val="333333"/>
                          </a:solidFill>
                          <a:latin typeface="Calibri"/>
                        </a:defRPr>
                      </a:pPr>
                      <a:r>
                        <a:t>2 (autoscale 1–5)</a:t>
                      </a:r>
                    </a:p>
                  </a:txBody>
                  <a:tcPr/>
                </a:tc>
              </a:tr>
              <a:tr h="365760">
                <a:tc>
                  <a:txBody>
                    <a:bodyPr/>
                    <a:lstStyle/>
                    <a:p>
                      <a:pPr>
                        <a:defRPr sz="1100">
                          <a:solidFill>
                            <a:srgbClr val="333333"/>
                          </a:solidFill>
                          <a:latin typeface="Calibri"/>
                        </a:defRPr>
                      </a:pPr>
                      <a:r>
                        <a:t>Network</a:t>
                      </a:r>
                    </a:p>
                  </a:txBody>
                  <a:tcPr>
                    <a:solidFill>
                      <a:srgbClr val="F0F0F0"/>
                    </a:solidFill>
                  </a:tcPr>
                </a:tc>
                <a:tc>
                  <a:txBody>
                    <a:bodyPr/>
                    <a:lstStyle/>
                    <a:p>
                      <a:pPr>
                        <a:defRPr sz="1100">
                          <a:solidFill>
                            <a:srgbClr val="333333"/>
                          </a:solidFill>
                          <a:latin typeface="Calibri"/>
                        </a:defRPr>
                      </a:pPr>
                      <a:r>
                        <a:t>Azure CNI + Calico</a:t>
                      </a:r>
                    </a:p>
                  </a:txBody>
                  <a:tcPr>
                    <a:solidFill>
                      <a:srgbClr val="F0F0F0"/>
                    </a:solidFill>
                  </a:tcPr>
                </a:tc>
              </a:tr>
              <a:tr h="365760">
                <a:tc>
                  <a:txBody>
                    <a:bodyPr/>
                    <a:lstStyle/>
                    <a:p>
                      <a:pPr>
                        <a:defRPr sz="1100">
                          <a:solidFill>
                            <a:srgbClr val="333333"/>
                          </a:solidFill>
                          <a:latin typeface="Calibri"/>
                        </a:defRPr>
                      </a:pPr>
                      <a:r>
                        <a:t>Identity</a:t>
                      </a:r>
                    </a:p>
                  </a:txBody>
                  <a:tcPr/>
                </a:tc>
                <a:tc>
                  <a:txBody>
                    <a:bodyPr/>
                    <a:lstStyle/>
                    <a:p>
                      <a:pPr>
                        <a:defRPr sz="1100">
                          <a:solidFill>
                            <a:srgbClr val="333333"/>
                          </a:solidFill>
                          <a:latin typeface="Calibri"/>
                        </a:defRPr>
                      </a:pPr>
                      <a:r>
                        <a:t>System-assigned MI</a:t>
                      </a:r>
                    </a:p>
                  </a:txBody>
                  <a:tcPr/>
                </a:tc>
              </a:tr>
              <a:tr h="365760">
                <a:tc>
                  <a:txBody>
                    <a:bodyPr/>
                    <a:lstStyle/>
                    <a:p>
                      <a:pPr>
                        <a:defRPr sz="1100">
                          <a:solidFill>
                            <a:srgbClr val="333333"/>
                          </a:solidFill>
                          <a:latin typeface="Calibri"/>
                        </a:defRPr>
                      </a:pPr>
                      <a:r>
                        <a:t>Monitoring</a:t>
                      </a:r>
                    </a:p>
                  </a:txBody>
                  <a:tcPr>
                    <a:solidFill>
                      <a:srgbClr val="F0F0F0"/>
                    </a:solidFill>
                  </a:tcPr>
                </a:tc>
                <a:tc>
                  <a:txBody>
                    <a:bodyPr/>
                    <a:lstStyle/>
                    <a:p>
                      <a:pPr>
                        <a:defRPr sz="1100">
                          <a:solidFill>
                            <a:srgbClr val="333333"/>
                          </a:solidFill>
                          <a:latin typeface="Calibri"/>
                        </a:defRPr>
                      </a:pPr>
                      <a:r>
                        <a:t>OMS → Log Analytics</a:t>
                      </a:r>
                    </a:p>
                  </a:txBody>
                  <a:tcPr>
                    <a:solidFill>
                      <a:srgbClr val="F0F0F0"/>
                    </a:solidFill>
                  </a:tcPr>
                </a:tc>
              </a:tr>
            </a:tbl>
          </a:graphicData>
        </a:graphic>
      </p:graphicFrame>
      <p:sp>
        <p:nvSpPr>
          <p:cNvPr id="7" name="TextBox 6"/>
          <p:cNvSpPr txBox="1"/>
          <p:nvPr/>
        </p:nvSpPr>
        <p:spPr>
          <a:xfrm>
            <a:off x="6400800" y="1371600"/>
            <a:ext cx="5029200" cy="365760"/>
          </a:xfrm>
          <a:prstGeom prst="rect">
            <a:avLst/>
          </a:prstGeom>
          <a:noFill/>
        </p:spPr>
        <p:txBody>
          <a:bodyPr wrap="square">
            <a:spAutoFit/>
          </a:bodyPr>
          <a:lstStyle/>
          <a:p>
            <a:pPr algn="l">
              <a:spcAft>
                <a:spcPts val="400"/>
              </a:spcAft>
              <a:defRPr sz="2000" b="1" i="0">
                <a:solidFill>
                  <a:srgbClr val="1E3A5F"/>
                </a:solidFill>
                <a:latin typeface="Calibri"/>
              </a:defRPr>
            </a:pPr>
            <a:r>
              <a:t>Helm Charts (3)</a:t>
            </a:r>
          </a:p>
        </p:txBody>
      </p:sp>
      <p:graphicFrame>
        <p:nvGraphicFramePr>
          <p:cNvPr id="8" name="Table 7"/>
          <p:cNvGraphicFramePr>
            <a:graphicFrameLocks noGrp="1"/>
          </p:cNvGraphicFramePr>
          <p:nvPr/>
        </p:nvGraphicFramePr>
        <p:xfrm>
          <a:off x="6400800" y="1920240"/>
          <a:ext cx="5303520" cy="1463040"/>
        </p:xfrm>
        <a:graphic>
          <a:graphicData uri="http://schemas.openxmlformats.org/drawingml/2006/table">
            <a:tbl>
              <a:tblPr firstRow="1" bandRow="1">
                <a:tableStyleId>{5C22544A-7EE6-4342-B048-85BDC9FD1C3A}</a:tableStyleId>
              </a:tblPr>
              <a:tblGrid>
                <a:gridCol w="1767840"/>
                <a:gridCol w="1767840"/>
                <a:gridCol w="1767840"/>
              </a:tblGrid>
              <a:tr h="365760">
                <a:tc>
                  <a:txBody>
                    <a:bodyPr/>
                    <a:lstStyle/>
                    <a:p>
                      <a:pPr>
                        <a:defRPr sz="1100" b="1">
                          <a:solidFill>
                            <a:srgbClr val="FFFFFF"/>
                          </a:solidFill>
                          <a:latin typeface="Calibri"/>
                        </a:defRPr>
                      </a:pPr>
                      <a:r>
                        <a:t>Chart</a:t>
                      </a:r>
                    </a:p>
                  </a:txBody>
                  <a:tcPr>
                    <a:solidFill>
                      <a:srgbClr val="1E3A5F"/>
                    </a:solidFill>
                  </a:tcPr>
                </a:tc>
                <a:tc>
                  <a:txBody>
                    <a:bodyPr/>
                    <a:lstStyle/>
                    <a:p>
                      <a:pPr>
                        <a:defRPr sz="1100" b="1">
                          <a:solidFill>
                            <a:srgbClr val="FFFFFF"/>
                          </a:solidFill>
                          <a:latin typeface="Calibri"/>
                        </a:defRPr>
                      </a:pPr>
                      <a:r>
                        <a:t>Resources</a:t>
                      </a:r>
                    </a:p>
                  </a:txBody>
                  <a:tcPr>
                    <a:solidFill>
                      <a:srgbClr val="1E3A5F"/>
                    </a:solidFill>
                  </a:tcPr>
                </a:tc>
                <a:tc>
                  <a:txBody>
                    <a:bodyPr/>
                    <a:lstStyle/>
                    <a:p>
                      <a:pPr>
                        <a:defRPr sz="1100" b="1">
                          <a:solidFill>
                            <a:srgbClr val="FFFFFF"/>
                          </a:solidFill>
                          <a:latin typeface="Calibri"/>
                        </a:defRPr>
                      </a:pPr>
                      <a:r>
                        <a:t>Key Feature</a:t>
                      </a:r>
                    </a:p>
                  </a:txBody>
                  <a:tcPr>
                    <a:solidFill>
                      <a:srgbClr val="1E3A5F"/>
                    </a:solidFill>
                  </a:tcPr>
                </a:tc>
              </a:tr>
              <a:tr h="365760">
                <a:tc>
                  <a:txBody>
                    <a:bodyPr/>
                    <a:lstStyle/>
                    <a:p>
                      <a:pPr>
                        <a:defRPr sz="1100">
                          <a:solidFill>
                            <a:srgbClr val="333333"/>
                          </a:solidFill>
                          <a:latin typeface="Calibri"/>
                        </a:defRPr>
                      </a:pPr>
                      <a:r>
                        <a:t>frontend/</a:t>
                      </a:r>
                    </a:p>
                  </a:txBody>
                  <a:tcPr/>
                </a:tc>
                <a:tc>
                  <a:txBody>
                    <a:bodyPr/>
                    <a:lstStyle/>
                    <a:p>
                      <a:pPr>
                        <a:defRPr sz="1100">
                          <a:solidFill>
                            <a:srgbClr val="333333"/>
                          </a:solidFill>
                          <a:latin typeface="Calibri"/>
                        </a:defRPr>
                      </a:pPr>
                      <a:r>
                        <a:t>Deploy, Svc, HPA</a:t>
                      </a:r>
                    </a:p>
                  </a:txBody>
                  <a:tcPr/>
                </a:tc>
                <a:tc>
                  <a:txBody>
                    <a:bodyPr/>
                    <a:lstStyle/>
                    <a:p>
                      <a:pPr>
                        <a:defRPr sz="1100">
                          <a:solidFill>
                            <a:srgbClr val="333333"/>
                          </a:solidFill>
                          <a:latin typeface="Calibri"/>
                        </a:defRPr>
                      </a:pPr>
                      <a:r>
                        <a:t>Blue/green slot label</a:t>
                      </a:r>
                    </a:p>
                  </a:txBody>
                  <a:tcPr/>
                </a:tc>
              </a:tr>
              <a:tr h="365760">
                <a:tc>
                  <a:txBody>
                    <a:bodyPr/>
                    <a:lstStyle/>
                    <a:p>
                      <a:pPr>
                        <a:defRPr sz="1100">
                          <a:solidFill>
                            <a:srgbClr val="333333"/>
                          </a:solidFill>
                          <a:latin typeface="Calibri"/>
                        </a:defRPr>
                      </a:pPr>
                      <a:r>
                        <a:t>backend/</a:t>
                      </a:r>
                    </a:p>
                  </a:txBody>
                  <a:tcPr>
                    <a:solidFill>
                      <a:srgbClr val="F0F0F0"/>
                    </a:solidFill>
                  </a:tcPr>
                </a:tc>
                <a:tc>
                  <a:txBody>
                    <a:bodyPr/>
                    <a:lstStyle/>
                    <a:p>
                      <a:pPr>
                        <a:defRPr sz="1100">
                          <a:solidFill>
                            <a:srgbClr val="333333"/>
                          </a:solidFill>
                          <a:latin typeface="Calibri"/>
                        </a:defRPr>
                      </a:pPr>
                      <a:r>
                        <a:t>Deploy, Svc, HPA</a:t>
                      </a:r>
                    </a:p>
                  </a:txBody>
                  <a:tcPr>
                    <a:solidFill>
                      <a:srgbClr val="F0F0F0"/>
                    </a:solidFill>
                  </a:tcPr>
                </a:tc>
                <a:tc>
                  <a:txBody>
                    <a:bodyPr/>
                    <a:lstStyle/>
                    <a:p>
                      <a:pPr>
                        <a:defRPr sz="1100">
                          <a:solidFill>
                            <a:srgbClr val="333333"/>
                          </a:solidFill>
                          <a:latin typeface="Calibri"/>
                        </a:defRPr>
                      </a:pPr>
                      <a:r>
                        <a:t>ClusterIP (internal)</a:t>
                      </a:r>
                    </a:p>
                  </a:txBody>
                  <a:tcPr>
                    <a:solidFill>
                      <a:srgbClr val="F0F0F0"/>
                    </a:solidFill>
                  </a:tcPr>
                </a:tc>
              </a:tr>
              <a:tr h="365760">
                <a:tc>
                  <a:txBody>
                    <a:bodyPr/>
                    <a:lstStyle/>
                    <a:p>
                      <a:pPr>
                        <a:defRPr sz="1100">
                          <a:solidFill>
                            <a:srgbClr val="333333"/>
                          </a:solidFill>
                          <a:latin typeface="Calibri"/>
                        </a:defRPr>
                      </a:pPr>
                      <a:r>
                        <a:t>mongodb/</a:t>
                      </a:r>
                    </a:p>
                  </a:txBody>
                  <a:tcPr/>
                </a:tc>
                <a:tc>
                  <a:txBody>
                    <a:bodyPr/>
                    <a:lstStyle/>
                    <a:p>
                      <a:pPr>
                        <a:defRPr sz="1100">
                          <a:solidFill>
                            <a:srgbClr val="333333"/>
                          </a:solidFill>
                          <a:latin typeface="Calibri"/>
                        </a:defRPr>
                      </a:pPr>
                      <a:r>
                        <a:t>StatefulSet, PVC, CronJob</a:t>
                      </a:r>
                    </a:p>
                  </a:txBody>
                  <a:tcPr/>
                </a:tc>
                <a:tc>
                  <a:txBody>
                    <a:bodyPr/>
                    <a:lstStyle/>
                    <a:p>
                      <a:pPr>
                        <a:defRPr sz="1100">
                          <a:solidFill>
                            <a:srgbClr val="333333"/>
                          </a:solidFill>
                          <a:latin typeface="Calibri"/>
                        </a:defRPr>
                      </a:pPr>
                      <a:r>
                        <a:t>Backup automation</a:t>
                      </a:r>
                    </a:p>
                  </a:txBody>
                  <a:tcPr/>
                </a:tc>
              </a:tr>
            </a:tbl>
          </a:graphicData>
        </a:graphic>
      </p:graphicFrame>
      <p:sp>
        <p:nvSpPr>
          <p:cNvPr id="9" name="TextBox 8"/>
          <p:cNvSpPr txBox="1"/>
          <p:nvPr/>
        </p:nvSpPr>
        <p:spPr>
          <a:xfrm>
            <a:off x="6400800" y="4114800"/>
            <a:ext cx="5029200" cy="365760"/>
          </a:xfrm>
          <a:prstGeom prst="rect">
            <a:avLst/>
          </a:prstGeom>
          <a:noFill/>
        </p:spPr>
        <p:txBody>
          <a:bodyPr wrap="square">
            <a:spAutoFit/>
          </a:bodyPr>
          <a:lstStyle/>
          <a:p>
            <a:pPr algn="l">
              <a:spcAft>
                <a:spcPts val="400"/>
              </a:spcAft>
              <a:defRPr sz="1600" b="1" i="0">
                <a:solidFill>
                  <a:srgbClr val="1E3A5F"/>
                </a:solidFill>
                <a:latin typeface="Calibri"/>
              </a:defRPr>
            </a:pPr>
            <a:r>
              <a:t>Why Helm over Kustomize?</a:t>
            </a:r>
          </a:p>
        </p:txBody>
      </p:sp>
      <p:sp>
        <p:nvSpPr>
          <p:cNvPr id="10" name="TextBox 9"/>
          <p:cNvSpPr txBox="1"/>
          <p:nvPr/>
        </p:nvSpPr>
        <p:spPr>
          <a:xfrm>
            <a:off x="6400800" y="4480560"/>
            <a:ext cx="5029200" cy="1828800"/>
          </a:xfrm>
          <a:prstGeom prst="rect">
            <a:avLst/>
          </a:prstGeom>
          <a:noFill/>
        </p:spPr>
        <p:txBody>
          <a:bodyPr wrap="square">
            <a:spAutoFit/>
          </a:bodyPr>
          <a:lstStyle/>
          <a:p>
            <a:pPr>
              <a:spcAft>
                <a:spcPts val="600"/>
              </a:spcAft>
              <a:defRPr sz="1400">
                <a:solidFill>
                  <a:srgbClr val="333333"/>
                </a:solidFill>
                <a:latin typeface="Calibri"/>
              </a:defRPr>
            </a:pPr>
            <a:r>
              <a:t>• Templating — Go templates for parameterised manifests</a:t>
            </a:r>
          </a:p>
          <a:p>
            <a:pPr>
              <a:spcAft>
                <a:spcPts val="600"/>
              </a:spcAft>
              <a:defRPr sz="1400">
                <a:solidFill>
                  <a:srgbClr val="333333"/>
                </a:solidFill>
                <a:latin typeface="Calibri"/>
              </a:defRPr>
            </a:pPr>
            <a:r>
              <a:t>• Release management — tracks history, helm rollback</a:t>
            </a:r>
          </a:p>
          <a:p>
            <a:pPr>
              <a:spcAft>
                <a:spcPts val="600"/>
              </a:spcAft>
              <a:defRPr sz="1400">
                <a:solidFill>
                  <a:srgbClr val="333333"/>
                </a:solidFill>
                <a:latin typeface="Calibri"/>
              </a:defRPr>
            </a:pPr>
            <a:r>
              <a:t>• Lifecycle hooks for pre/post deployment</a:t>
            </a:r>
          </a:p>
          <a:p>
            <a:pPr>
              <a:spcAft>
                <a:spcPts val="600"/>
              </a:spcAft>
              <a:defRPr sz="1400">
                <a:solidFill>
                  <a:srgbClr val="333333"/>
                </a:solidFill>
                <a:latin typeface="Calibri"/>
              </a:defRPr>
            </a:pPr>
            <a:r>
              <a:t>• Extensive chart ecosystem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Performance &amp; Monitoring</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303520" cy="365760"/>
          </a:xfrm>
          <a:prstGeom prst="rect">
            <a:avLst/>
          </a:prstGeom>
          <a:noFill/>
        </p:spPr>
        <p:txBody>
          <a:bodyPr wrap="square">
            <a:spAutoFit/>
          </a:bodyPr>
          <a:lstStyle/>
          <a:p>
            <a:pPr algn="l">
              <a:spcAft>
                <a:spcPts val="400"/>
              </a:spcAft>
              <a:defRPr sz="2000" b="1" i="0">
                <a:solidFill>
                  <a:srgbClr val="1E3A5F"/>
                </a:solidFill>
                <a:latin typeface="Calibri"/>
              </a:defRPr>
            </a:pPr>
            <a:r>
              <a:t>Performance Measures</a:t>
            </a:r>
          </a:p>
        </p:txBody>
      </p:sp>
      <p:graphicFrame>
        <p:nvGraphicFramePr>
          <p:cNvPr id="6" name="Table 5"/>
          <p:cNvGraphicFramePr>
            <a:graphicFrameLocks noGrp="1"/>
          </p:cNvGraphicFramePr>
          <p:nvPr/>
        </p:nvGraphicFramePr>
        <p:xfrm>
          <a:off x="548640" y="1828800"/>
          <a:ext cx="5303520" cy="1828800"/>
        </p:xfrm>
        <a:graphic>
          <a:graphicData uri="http://schemas.openxmlformats.org/drawingml/2006/table">
            <a:tbl>
              <a:tblPr firstRow="1" bandRow="1">
                <a:tableStyleId>{5C22544A-7EE6-4342-B048-85BDC9FD1C3A}</a:tableStyleId>
              </a:tblPr>
              <a:tblGrid>
                <a:gridCol w="1767840"/>
                <a:gridCol w="1767840"/>
                <a:gridCol w="1767840"/>
              </a:tblGrid>
              <a:tr h="365760">
                <a:tc>
                  <a:txBody>
                    <a:bodyPr/>
                    <a:lstStyle/>
                    <a:p>
                      <a:pPr>
                        <a:defRPr sz="1200" b="1">
                          <a:solidFill>
                            <a:srgbClr val="FFFFFF"/>
                          </a:solidFill>
                          <a:latin typeface="Calibri"/>
                        </a:defRPr>
                      </a:pPr>
                      <a:r>
                        <a:t>Metric</a:t>
                      </a:r>
                    </a:p>
                  </a:txBody>
                  <a:tcPr>
                    <a:solidFill>
                      <a:srgbClr val="1E3A5F"/>
                    </a:solidFill>
                  </a:tcPr>
                </a:tc>
                <a:tc>
                  <a:txBody>
                    <a:bodyPr/>
                    <a:lstStyle/>
                    <a:p>
                      <a:pPr>
                        <a:defRPr sz="1200" b="1">
                          <a:solidFill>
                            <a:srgbClr val="FFFFFF"/>
                          </a:solidFill>
                          <a:latin typeface="Calibri"/>
                        </a:defRPr>
                      </a:pPr>
                      <a:r>
                        <a:t>Frontend</a:t>
                      </a:r>
                    </a:p>
                  </a:txBody>
                  <a:tcPr>
                    <a:solidFill>
                      <a:srgbClr val="1E3A5F"/>
                    </a:solidFill>
                  </a:tcPr>
                </a:tc>
                <a:tc>
                  <a:txBody>
                    <a:bodyPr/>
                    <a:lstStyle/>
                    <a:p>
                      <a:pPr>
                        <a:defRPr sz="1200" b="1">
                          <a:solidFill>
                            <a:srgbClr val="FFFFFF"/>
                          </a:solidFill>
                          <a:latin typeface="Calibri"/>
                        </a:defRPr>
                      </a:pPr>
                      <a:r>
                        <a:t>Backend</a:t>
                      </a:r>
                    </a:p>
                  </a:txBody>
                  <a:tcPr>
                    <a:solidFill>
                      <a:srgbClr val="1E3A5F"/>
                    </a:solidFill>
                  </a:tcPr>
                </a:tc>
              </a:tr>
              <a:tr h="365760">
                <a:tc>
                  <a:txBody>
                    <a:bodyPr/>
                    <a:lstStyle/>
                    <a:p>
                      <a:pPr>
                        <a:defRPr sz="1200">
                          <a:solidFill>
                            <a:srgbClr val="333333"/>
                          </a:solidFill>
                          <a:latin typeface="Calibri"/>
                        </a:defRPr>
                      </a:pPr>
                      <a:r>
                        <a:t>Cold start</a:t>
                      </a:r>
                    </a:p>
                  </a:txBody>
                  <a:tcPr/>
                </a:tc>
                <a:tc>
                  <a:txBody>
                    <a:bodyPr/>
                    <a:lstStyle/>
                    <a:p>
                      <a:pPr>
                        <a:defRPr sz="1200">
                          <a:solidFill>
                            <a:srgbClr val="333333"/>
                          </a:solidFill>
                          <a:latin typeface="Calibri"/>
                        </a:defRPr>
                      </a:pPr>
                      <a:r>
                        <a:t>~1s (Node.js)</a:t>
                      </a:r>
                    </a:p>
                  </a:txBody>
                  <a:tcPr/>
                </a:tc>
                <a:tc>
                  <a:txBody>
                    <a:bodyPr/>
                    <a:lstStyle/>
                    <a:p>
                      <a:pPr>
                        <a:defRPr sz="1200">
                          <a:solidFill>
                            <a:srgbClr val="333333"/>
                          </a:solidFill>
                          <a:latin typeface="Calibri"/>
                        </a:defRPr>
                      </a:pPr>
                      <a:r>
                        <a:t>~15–30s (JVM)</a:t>
                      </a:r>
                    </a:p>
                  </a:txBody>
                  <a:tcPr/>
                </a:tc>
              </a:tr>
              <a:tr h="365760">
                <a:tc>
                  <a:txBody>
                    <a:bodyPr/>
                    <a:lstStyle/>
                    <a:p>
                      <a:pPr>
                        <a:defRPr sz="1200">
                          <a:solidFill>
                            <a:srgbClr val="333333"/>
                          </a:solidFill>
                          <a:latin typeface="Calibri"/>
                        </a:defRPr>
                      </a:pPr>
                      <a:r>
                        <a:t>Warm latency</a:t>
                      </a:r>
                    </a:p>
                  </a:txBody>
                  <a:tcPr>
                    <a:solidFill>
                      <a:srgbClr val="F0F0F0"/>
                    </a:solidFill>
                  </a:tcPr>
                </a:tc>
                <a:tc>
                  <a:txBody>
                    <a:bodyPr/>
                    <a:lstStyle/>
                    <a:p>
                      <a:pPr>
                        <a:defRPr sz="1200">
                          <a:solidFill>
                            <a:srgbClr val="333333"/>
                          </a:solidFill>
                          <a:latin typeface="Calibri"/>
                        </a:defRPr>
                      </a:pPr>
                      <a:r>
                        <a:t>&lt;50ms</a:t>
                      </a:r>
                    </a:p>
                  </a:txBody>
                  <a:tcPr>
                    <a:solidFill>
                      <a:srgbClr val="F0F0F0"/>
                    </a:solidFill>
                  </a:tcPr>
                </a:tc>
                <a:tc>
                  <a:txBody>
                    <a:bodyPr/>
                    <a:lstStyle/>
                    <a:p>
                      <a:pPr>
                        <a:defRPr sz="1200">
                          <a:solidFill>
                            <a:srgbClr val="333333"/>
                          </a:solidFill>
                          <a:latin typeface="Calibri"/>
                        </a:defRPr>
                      </a:pPr>
                      <a:r>
                        <a:t>&lt;20ms</a:t>
                      </a:r>
                    </a:p>
                  </a:txBody>
                  <a:tcPr>
                    <a:solidFill>
                      <a:srgbClr val="F0F0F0"/>
                    </a:solidFill>
                  </a:tcPr>
                </a:tc>
              </a:tr>
              <a:tr h="365760">
                <a:tc>
                  <a:txBody>
                    <a:bodyPr/>
                    <a:lstStyle/>
                    <a:p>
                      <a:pPr>
                        <a:defRPr sz="1200">
                          <a:solidFill>
                            <a:srgbClr val="333333"/>
                          </a:solidFill>
                          <a:latin typeface="Calibri"/>
                        </a:defRPr>
                      </a:pPr>
                      <a:r>
                        <a:t>Throughput</a:t>
                      </a:r>
                    </a:p>
                  </a:txBody>
                  <a:tcPr/>
                </a:tc>
                <a:tc>
                  <a:txBody>
                    <a:bodyPr/>
                    <a:lstStyle/>
                    <a:p>
                      <a:pPr>
                        <a:defRPr sz="1200">
                          <a:solidFill>
                            <a:srgbClr val="333333"/>
                          </a:solidFill>
                          <a:latin typeface="Calibri"/>
                        </a:defRPr>
                      </a:pPr>
                      <a:r>
                        <a:t>~500 req/s</a:t>
                      </a:r>
                    </a:p>
                  </a:txBody>
                  <a:tcPr/>
                </a:tc>
                <a:tc>
                  <a:txBody>
                    <a:bodyPr/>
                    <a:lstStyle/>
                    <a:p>
                      <a:pPr>
                        <a:defRPr sz="1200">
                          <a:solidFill>
                            <a:srgbClr val="333333"/>
                          </a:solidFill>
                          <a:latin typeface="Calibri"/>
                        </a:defRPr>
                      </a:pPr>
                      <a:r>
                        <a:t>~200 req/s</a:t>
                      </a:r>
                    </a:p>
                  </a:txBody>
                  <a:tcPr/>
                </a:tc>
              </a:tr>
              <a:tr h="365760">
                <a:tc>
                  <a:txBody>
                    <a:bodyPr/>
                    <a:lstStyle/>
                    <a:p>
                      <a:pPr>
                        <a:defRPr sz="1200">
                          <a:solidFill>
                            <a:srgbClr val="333333"/>
                          </a:solidFill>
                          <a:latin typeface="Calibri"/>
                        </a:defRPr>
                      </a:pPr>
                      <a:r>
                        <a:t>Image size</a:t>
                      </a:r>
                    </a:p>
                  </a:txBody>
                  <a:tcPr>
                    <a:solidFill>
                      <a:srgbClr val="F0F0F0"/>
                    </a:solidFill>
                  </a:tcPr>
                </a:tc>
                <a:tc>
                  <a:txBody>
                    <a:bodyPr/>
                    <a:lstStyle/>
                    <a:p>
                      <a:pPr>
                        <a:defRPr sz="1200">
                          <a:solidFill>
                            <a:srgbClr val="333333"/>
                          </a:solidFill>
                          <a:latin typeface="Calibri"/>
                        </a:defRPr>
                      </a:pPr>
                      <a:r>
                        <a:t>~80 MB</a:t>
                      </a:r>
                    </a:p>
                  </a:txBody>
                  <a:tcPr>
                    <a:solidFill>
                      <a:srgbClr val="F0F0F0"/>
                    </a:solidFill>
                  </a:tcPr>
                </a:tc>
                <a:tc>
                  <a:txBody>
                    <a:bodyPr/>
                    <a:lstStyle/>
                    <a:p>
                      <a:pPr>
                        <a:defRPr sz="1200">
                          <a:solidFill>
                            <a:srgbClr val="333333"/>
                          </a:solidFill>
                          <a:latin typeface="Calibri"/>
                        </a:defRPr>
                      </a:pPr>
                      <a:r>
                        <a:t>~150 MB</a:t>
                      </a:r>
                    </a:p>
                  </a:txBody>
                  <a:tcPr>
                    <a:solidFill>
                      <a:srgbClr val="F0F0F0"/>
                    </a:solidFill>
                  </a:tcPr>
                </a:tc>
              </a:tr>
            </a:tbl>
          </a:graphicData>
        </a:graphic>
      </p:graphicFrame>
      <p:sp>
        <p:nvSpPr>
          <p:cNvPr id="7" name="TextBox 6"/>
          <p:cNvSpPr txBox="1"/>
          <p:nvPr/>
        </p:nvSpPr>
        <p:spPr>
          <a:xfrm>
            <a:off x="548640" y="3840480"/>
            <a:ext cx="5303520" cy="1371600"/>
          </a:xfrm>
          <a:prstGeom prst="rect">
            <a:avLst/>
          </a:prstGeom>
          <a:noFill/>
        </p:spPr>
        <p:txBody>
          <a:bodyPr wrap="square">
            <a:spAutoFit/>
          </a:bodyPr>
          <a:lstStyle/>
          <a:p>
            <a:pPr>
              <a:spcAft>
                <a:spcPts val="600"/>
              </a:spcAft>
              <a:defRPr sz="1400">
                <a:solidFill>
                  <a:srgbClr val="333333"/>
                </a:solidFill>
                <a:latin typeface="Calibri"/>
              </a:defRPr>
            </a:pPr>
            <a:r>
              <a:t>• Multi-stage Docker builds → minimal images</a:t>
            </a:r>
          </a:p>
          <a:p>
            <a:pPr>
              <a:spcAft>
                <a:spcPts val="600"/>
              </a:spcAft>
              <a:defRPr sz="1400">
                <a:solidFill>
                  <a:srgbClr val="333333"/>
                </a:solidFill>
                <a:latin typeface="Calibri"/>
              </a:defRPr>
            </a:pPr>
            <a:r>
              <a:t>• Readiness probes prevent traffic to unready pods</a:t>
            </a:r>
          </a:p>
          <a:p>
            <a:pPr>
              <a:spcAft>
                <a:spcPts val="600"/>
              </a:spcAft>
              <a:defRPr sz="1400">
                <a:solidFill>
                  <a:srgbClr val="333333"/>
                </a:solidFill>
                <a:latin typeface="Calibri"/>
              </a:defRPr>
            </a:pPr>
            <a:r>
              <a:t>• Connection pooling (MongoDB + Axios keep-alive)</a:t>
            </a:r>
          </a:p>
          <a:p>
            <a:pPr>
              <a:spcAft>
                <a:spcPts val="600"/>
              </a:spcAft>
              <a:defRPr sz="1400">
                <a:solidFill>
                  <a:srgbClr val="333333"/>
                </a:solidFill>
                <a:latin typeface="Calibri"/>
              </a:defRPr>
            </a:pPr>
            <a:r>
              <a:t>• Resource requests/limits set per pod</a:t>
            </a:r>
          </a:p>
        </p:txBody>
      </p:sp>
      <p:sp>
        <p:nvSpPr>
          <p:cNvPr id="8" name="TextBox 7"/>
          <p:cNvSpPr txBox="1"/>
          <p:nvPr/>
        </p:nvSpPr>
        <p:spPr>
          <a:xfrm>
            <a:off x="6400800" y="1371600"/>
            <a:ext cx="5029200" cy="365760"/>
          </a:xfrm>
          <a:prstGeom prst="rect">
            <a:avLst/>
          </a:prstGeom>
          <a:noFill/>
        </p:spPr>
        <p:txBody>
          <a:bodyPr wrap="square">
            <a:spAutoFit/>
          </a:bodyPr>
          <a:lstStyle/>
          <a:p>
            <a:pPr algn="l">
              <a:spcAft>
                <a:spcPts val="400"/>
              </a:spcAft>
              <a:defRPr sz="2000" b="1" i="0">
                <a:solidFill>
                  <a:srgbClr val="1E3A5F"/>
                </a:solidFill>
                <a:latin typeface="Calibri"/>
              </a:defRPr>
            </a:pPr>
            <a:r>
              <a:t>Monitoring &amp; Alerting</a:t>
            </a:r>
          </a:p>
        </p:txBody>
      </p:sp>
      <p:graphicFrame>
        <p:nvGraphicFramePr>
          <p:cNvPr id="9" name="Table 8"/>
          <p:cNvGraphicFramePr>
            <a:graphicFrameLocks noGrp="1"/>
          </p:cNvGraphicFramePr>
          <p:nvPr/>
        </p:nvGraphicFramePr>
        <p:xfrm>
          <a:off x="6400800" y="1828800"/>
          <a:ext cx="5029200" cy="2194560"/>
        </p:xfrm>
        <a:graphic>
          <a:graphicData uri="http://schemas.openxmlformats.org/drawingml/2006/table">
            <a:tbl>
              <a:tblPr firstRow="1" bandRow="1">
                <a:tableStyleId>{5C22544A-7EE6-4342-B048-85BDC9FD1C3A}</a:tableStyleId>
              </a:tblPr>
              <a:tblGrid>
                <a:gridCol w="1676400"/>
                <a:gridCol w="1676400"/>
                <a:gridCol w="1676400"/>
              </a:tblGrid>
              <a:tr h="365760">
                <a:tc>
                  <a:txBody>
                    <a:bodyPr/>
                    <a:lstStyle/>
                    <a:p>
                      <a:pPr>
                        <a:defRPr sz="1100" b="1">
                          <a:solidFill>
                            <a:srgbClr val="FFFFFF"/>
                          </a:solidFill>
                          <a:latin typeface="Calibri"/>
                        </a:defRPr>
                      </a:pPr>
                      <a:r>
                        <a:t>Alert</a:t>
                      </a:r>
                    </a:p>
                  </a:txBody>
                  <a:tcPr>
                    <a:solidFill>
                      <a:srgbClr val="1E3A5F"/>
                    </a:solidFill>
                  </a:tcPr>
                </a:tc>
                <a:tc>
                  <a:txBody>
                    <a:bodyPr/>
                    <a:lstStyle/>
                    <a:p>
                      <a:pPr>
                        <a:defRPr sz="1100" b="1">
                          <a:solidFill>
                            <a:srgbClr val="FFFFFF"/>
                          </a:solidFill>
                          <a:latin typeface="Calibri"/>
                        </a:defRPr>
                      </a:pPr>
                      <a:r>
                        <a:t>Condition</a:t>
                      </a:r>
                    </a:p>
                  </a:txBody>
                  <a:tcPr>
                    <a:solidFill>
                      <a:srgbClr val="1E3A5F"/>
                    </a:solidFill>
                  </a:tcPr>
                </a:tc>
                <a:tc>
                  <a:txBody>
                    <a:bodyPr/>
                    <a:lstStyle/>
                    <a:p>
                      <a:pPr>
                        <a:defRPr sz="1100" b="1">
                          <a:solidFill>
                            <a:srgbClr val="FFFFFF"/>
                          </a:solidFill>
                          <a:latin typeface="Calibri"/>
                        </a:defRPr>
                      </a:pPr>
                      <a:r>
                        <a:t>Severity</a:t>
                      </a:r>
                    </a:p>
                  </a:txBody>
                  <a:tcPr>
                    <a:solidFill>
                      <a:srgbClr val="1E3A5F"/>
                    </a:solidFill>
                  </a:tcPr>
                </a:tc>
              </a:tr>
              <a:tr h="365760">
                <a:tc>
                  <a:txBody>
                    <a:bodyPr/>
                    <a:lstStyle/>
                    <a:p>
                      <a:pPr>
                        <a:defRPr sz="1100">
                          <a:solidFill>
                            <a:srgbClr val="333333"/>
                          </a:solidFill>
                          <a:latin typeface="Calibri"/>
                        </a:defRPr>
                      </a:pPr>
                      <a:r>
                        <a:t>Pod restart loop</a:t>
                      </a:r>
                    </a:p>
                  </a:txBody>
                  <a:tcPr/>
                </a:tc>
                <a:tc>
                  <a:txBody>
                    <a:bodyPr/>
                    <a:lstStyle/>
                    <a:p>
                      <a:pPr>
                        <a:defRPr sz="1100">
                          <a:solidFill>
                            <a:srgbClr val="333333"/>
                          </a:solidFill>
                          <a:latin typeface="Calibri"/>
                        </a:defRPr>
                      </a:pPr>
                      <a:r>
                        <a:t>Restarts &gt; 3 / 5 min</a:t>
                      </a:r>
                    </a:p>
                  </a:txBody>
                  <a:tcPr/>
                </a:tc>
                <a:tc>
                  <a:txBody>
                    <a:bodyPr/>
                    <a:lstStyle/>
                    <a:p>
                      <a:pPr>
                        <a:defRPr sz="1100">
                          <a:solidFill>
                            <a:srgbClr val="333333"/>
                          </a:solidFill>
                          <a:latin typeface="Calibri"/>
                        </a:defRPr>
                      </a:pPr>
                      <a:r>
                        <a:t>Critical</a:t>
                      </a:r>
                    </a:p>
                  </a:txBody>
                  <a:tcPr/>
                </a:tc>
              </a:tr>
              <a:tr h="365760">
                <a:tc>
                  <a:txBody>
                    <a:bodyPr/>
                    <a:lstStyle/>
                    <a:p>
                      <a:pPr>
                        <a:defRPr sz="1100">
                          <a:solidFill>
                            <a:srgbClr val="333333"/>
                          </a:solidFill>
                          <a:latin typeface="Calibri"/>
                        </a:defRPr>
                      </a:pPr>
                      <a:r>
                        <a:t>High error rate</a:t>
                      </a:r>
                    </a:p>
                  </a:txBody>
                  <a:tcPr>
                    <a:solidFill>
                      <a:srgbClr val="F0F0F0"/>
                    </a:solidFill>
                  </a:tcPr>
                </a:tc>
                <a:tc>
                  <a:txBody>
                    <a:bodyPr/>
                    <a:lstStyle/>
                    <a:p>
                      <a:pPr>
                        <a:defRPr sz="1100">
                          <a:solidFill>
                            <a:srgbClr val="333333"/>
                          </a:solidFill>
                          <a:latin typeface="Calibri"/>
                        </a:defRPr>
                      </a:pPr>
                      <a:r>
                        <a:t>HTTP 5xx &gt; 5%</a:t>
                      </a:r>
                    </a:p>
                  </a:txBody>
                  <a:tcPr>
                    <a:solidFill>
                      <a:srgbClr val="F0F0F0"/>
                    </a:solidFill>
                  </a:tcPr>
                </a:tc>
                <a:tc>
                  <a:txBody>
                    <a:bodyPr/>
                    <a:lstStyle/>
                    <a:p>
                      <a:pPr>
                        <a:defRPr sz="1100">
                          <a:solidFill>
                            <a:srgbClr val="333333"/>
                          </a:solidFill>
                          <a:latin typeface="Calibri"/>
                        </a:defRPr>
                      </a:pPr>
                      <a:r>
                        <a:t>Warning</a:t>
                      </a:r>
                    </a:p>
                  </a:txBody>
                  <a:tcPr>
                    <a:solidFill>
                      <a:srgbClr val="F0F0F0"/>
                    </a:solidFill>
                  </a:tcPr>
                </a:tc>
              </a:tr>
              <a:tr h="365760">
                <a:tc>
                  <a:txBody>
                    <a:bodyPr/>
                    <a:lstStyle/>
                    <a:p>
                      <a:pPr>
                        <a:defRPr sz="1100">
                          <a:solidFill>
                            <a:srgbClr val="333333"/>
                          </a:solidFill>
                          <a:latin typeface="Calibri"/>
                        </a:defRPr>
                      </a:pPr>
                      <a:r>
                        <a:t>High latency</a:t>
                      </a:r>
                    </a:p>
                  </a:txBody>
                  <a:tcPr/>
                </a:tc>
                <a:tc>
                  <a:txBody>
                    <a:bodyPr/>
                    <a:lstStyle/>
                    <a:p>
                      <a:pPr>
                        <a:defRPr sz="1100">
                          <a:solidFill>
                            <a:srgbClr val="333333"/>
                          </a:solidFill>
                          <a:latin typeface="Calibri"/>
                        </a:defRPr>
                      </a:pPr>
                      <a:r>
                        <a:t>P95 &gt; 2s</a:t>
                      </a:r>
                    </a:p>
                  </a:txBody>
                  <a:tcPr/>
                </a:tc>
                <a:tc>
                  <a:txBody>
                    <a:bodyPr/>
                    <a:lstStyle/>
                    <a:p>
                      <a:pPr>
                        <a:defRPr sz="1100">
                          <a:solidFill>
                            <a:srgbClr val="333333"/>
                          </a:solidFill>
                          <a:latin typeface="Calibri"/>
                        </a:defRPr>
                      </a:pPr>
                      <a:r>
                        <a:t>Warning</a:t>
                      </a:r>
                    </a:p>
                  </a:txBody>
                  <a:tcPr/>
                </a:tc>
              </a:tr>
              <a:tr h="365760">
                <a:tc>
                  <a:txBody>
                    <a:bodyPr/>
                    <a:lstStyle/>
                    <a:p>
                      <a:pPr>
                        <a:defRPr sz="1100">
                          <a:solidFill>
                            <a:srgbClr val="333333"/>
                          </a:solidFill>
                          <a:latin typeface="Calibri"/>
                        </a:defRPr>
                      </a:pPr>
                      <a:r>
                        <a:t>Node pressure</a:t>
                      </a:r>
                    </a:p>
                  </a:txBody>
                  <a:tcPr>
                    <a:solidFill>
                      <a:srgbClr val="F0F0F0"/>
                    </a:solidFill>
                  </a:tcPr>
                </a:tc>
                <a:tc>
                  <a:txBody>
                    <a:bodyPr/>
                    <a:lstStyle/>
                    <a:p>
                      <a:pPr>
                        <a:defRPr sz="1100">
                          <a:solidFill>
                            <a:srgbClr val="333333"/>
                          </a:solidFill>
                          <a:latin typeface="Calibri"/>
                        </a:defRPr>
                      </a:pPr>
                      <a:r>
                        <a:t>CPU &gt; 90%</a:t>
                      </a:r>
                    </a:p>
                  </a:txBody>
                  <a:tcPr>
                    <a:solidFill>
                      <a:srgbClr val="F0F0F0"/>
                    </a:solidFill>
                  </a:tcPr>
                </a:tc>
                <a:tc>
                  <a:txBody>
                    <a:bodyPr/>
                    <a:lstStyle/>
                    <a:p>
                      <a:pPr>
                        <a:defRPr sz="1100">
                          <a:solidFill>
                            <a:srgbClr val="333333"/>
                          </a:solidFill>
                          <a:latin typeface="Calibri"/>
                        </a:defRPr>
                      </a:pPr>
                      <a:r>
                        <a:t>Warning</a:t>
                      </a:r>
                    </a:p>
                  </a:txBody>
                  <a:tcPr>
                    <a:solidFill>
                      <a:srgbClr val="F0F0F0"/>
                    </a:solidFill>
                  </a:tcPr>
                </a:tc>
              </a:tr>
              <a:tr h="365760">
                <a:tc>
                  <a:txBody>
                    <a:bodyPr/>
                    <a:lstStyle/>
                    <a:p>
                      <a:pPr>
                        <a:defRPr sz="1100">
                          <a:solidFill>
                            <a:srgbClr val="333333"/>
                          </a:solidFill>
                          <a:latin typeface="Calibri"/>
                        </a:defRPr>
                      </a:pPr>
                      <a:r>
                        <a:t>MongoDB failure</a:t>
                      </a:r>
                    </a:p>
                  </a:txBody>
                  <a:tcPr/>
                </a:tc>
                <a:tc>
                  <a:txBody>
                    <a:bodyPr/>
                    <a:lstStyle/>
                    <a:p>
                      <a:pPr>
                        <a:defRPr sz="1100">
                          <a:solidFill>
                            <a:srgbClr val="333333"/>
                          </a:solidFill>
                          <a:latin typeface="Calibri"/>
                        </a:defRPr>
                      </a:pPr>
                      <a:r>
                        <a:t>Connection errors</a:t>
                      </a:r>
                    </a:p>
                  </a:txBody>
                  <a:tcPr/>
                </a:tc>
                <a:tc>
                  <a:txBody>
                    <a:bodyPr/>
                    <a:lstStyle/>
                    <a:p>
                      <a:pPr>
                        <a:defRPr sz="1100">
                          <a:solidFill>
                            <a:srgbClr val="333333"/>
                          </a:solidFill>
                          <a:latin typeface="Calibri"/>
                        </a:defRPr>
                      </a:pPr>
                      <a:r>
                        <a:t>Critical</a:t>
                      </a:r>
                    </a:p>
                  </a:txBody>
                  <a:tcPr/>
                </a:tc>
              </a:tr>
            </a:tbl>
          </a:graphicData>
        </a:graphic>
      </p:graphicFrame>
      <p:sp>
        <p:nvSpPr>
          <p:cNvPr id="10" name="TextBox 9"/>
          <p:cNvSpPr txBox="1"/>
          <p:nvPr/>
        </p:nvSpPr>
        <p:spPr>
          <a:xfrm>
            <a:off x="6400800" y="4297680"/>
            <a:ext cx="5029200" cy="1371600"/>
          </a:xfrm>
          <a:prstGeom prst="rect">
            <a:avLst/>
          </a:prstGeom>
          <a:noFill/>
        </p:spPr>
        <p:txBody>
          <a:bodyPr wrap="square">
            <a:spAutoFit/>
          </a:bodyPr>
          <a:lstStyle/>
          <a:p>
            <a:pPr algn="l">
              <a:spcAft>
                <a:spcPts val="400"/>
              </a:spcAft>
              <a:defRPr sz="1300" b="0" i="1">
                <a:solidFill>
                  <a:srgbClr val="884400"/>
                </a:solidFill>
                <a:latin typeface="Calibri"/>
              </a:defRPr>
            </a:pPr>
            <a:r>
              <a:t>Critique: JVM cold start is the main concern — mitigated by readiness probes + min 2 replicas. GraalVM native image could reduce to &lt;1s. OpenTelemetry distributed tracing should be added for cross-service correlation.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Scaling &amp; Backup Strategy</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303520" cy="365760"/>
          </a:xfrm>
          <a:prstGeom prst="rect">
            <a:avLst/>
          </a:prstGeom>
          <a:noFill/>
        </p:spPr>
        <p:txBody>
          <a:bodyPr wrap="square">
            <a:spAutoFit/>
          </a:bodyPr>
          <a:lstStyle/>
          <a:p>
            <a:pPr algn="l">
              <a:spcAft>
                <a:spcPts val="400"/>
              </a:spcAft>
              <a:defRPr sz="2000" b="1" i="0">
                <a:solidFill>
                  <a:srgbClr val="1E3A5F"/>
                </a:solidFill>
                <a:latin typeface="Calibri"/>
              </a:defRPr>
            </a:pPr>
            <a:r>
              <a:t>Horizontal Pod Autoscaling (HPA)</a:t>
            </a:r>
          </a:p>
        </p:txBody>
      </p:sp>
      <p:graphicFrame>
        <p:nvGraphicFramePr>
          <p:cNvPr id="6" name="Table 5"/>
          <p:cNvGraphicFramePr>
            <a:graphicFrameLocks noGrp="1"/>
          </p:cNvGraphicFramePr>
          <p:nvPr/>
        </p:nvGraphicFramePr>
        <p:xfrm>
          <a:off x="548640" y="1920240"/>
          <a:ext cx="5303520" cy="1463040"/>
        </p:xfrm>
        <a:graphic>
          <a:graphicData uri="http://schemas.openxmlformats.org/drawingml/2006/table">
            <a:tbl>
              <a:tblPr firstRow="1" bandRow="1">
                <a:tableStyleId>{5C22544A-7EE6-4342-B048-85BDC9FD1C3A}</a:tableStyleId>
              </a:tblPr>
              <a:tblGrid>
                <a:gridCol w="1060704"/>
                <a:gridCol w="1060704"/>
                <a:gridCol w="1060704"/>
                <a:gridCol w="1060704"/>
                <a:gridCol w="1060704"/>
              </a:tblGrid>
              <a:tr h="365760">
                <a:tc>
                  <a:txBody>
                    <a:bodyPr/>
                    <a:lstStyle/>
                    <a:p>
                      <a:pPr>
                        <a:defRPr sz="1200" b="1">
                          <a:solidFill>
                            <a:srgbClr val="FFFFFF"/>
                          </a:solidFill>
                          <a:latin typeface="Calibri"/>
                        </a:defRPr>
                      </a:pPr>
                      <a:r>
                        <a:t>Service</a:t>
                      </a:r>
                    </a:p>
                  </a:txBody>
                  <a:tcPr>
                    <a:solidFill>
                      <a:srgbClr val="1E3A5F"/>
                    </a:solidFill>
                  </a:tcPr>
                </a:tc>
                <a:tc>
                  <a:txBody>
                    <a:bodyPr/>
                    <a:lstStyle/>
                    <a:p>
                      <a:pPr>
                        <a:defRPr sz="1200" b="1">
                          <a:solidFill>
                            <a:srgbClr val="FFFFFF"/>
                          </a:solidFill>
                          <a:latin typeface="Calibri"/>
                        </a:defRPr>
                      </a:pPr>
                      <a:r>
                        <a:t>Min</a:t>
                      </a:r>
                    </a:p>
                  </a:txBody>
                  <a:tcPr>
                    <a:solidFill>
                      <a:srgbClr val="1E3A5F"/>
                    </a:solidFill>
                  </a:tcPr>
                </a:tc>
                <a:tc>
                  <a:txBody>
                    <a:bodyPr/>
                    <a:lstStyle/>
                    <a:p>
                      <a:pPr>
                        <a:defRPr sz="1200" b="1">
                          <a:solidFill>
                            <a:srgbClr val="FFFFFF"/>
                          </a:solidFill>
                          <a:latin typeface="Calibri"/>
                        </a:defRPr>
                      </a:pPr>
                      <a:r>
                        <a:t>Max</a:t>
                      </a:r>
                    </a:p>
                  </a:txBody>
                  <a:tcPr>
                    <a:solidFill>
                      <a:srgbClr val="1E3A5F"/>
                    </a:solidFill>
                  </a:tcPr>
                </a:tc>
                <a:tc>
                  <a:txBody>
                    <a:bodyPr/>
                    <a:lstStyle/>
                    <a:p>
                      <a:pPr>
                        <a:defRPr sz="1200" b="1">
                          <a:solidFill>
                            <a:srgbClr val="FFFFFF"/>
                          </a:solidFill>
                          <a:latin typeface="Calibri"/>
                        </a:defRPr>
                      </a:pPr>
                      <a:r>
                        <a:t>CPU Target</a:t>
                      </a:r>
                    </a:p>
                  </a:txBody>
                  <a:tcPr>
                    <a:solidFill>
                      <a:srgbClr val="1E3A5F"/>
                    </a:solidFill>
                  </a:tcPr>
                </a:tc>
                <a:tc>
                  <a:txBody>
                    <a:bodyPr/>
                    <a:lstStyle/>
                    <a:p>
                      <a:pPr>
                        <a:defRPr sz="1200" b="1">
                          <a:solidFill>
                            <a:srgbClr val="FFFFFF"/>
                          </a:solidFill>
                          <a:latin typeface="Calibri"/>
                        </a:defRPr>
                      </a:pPr>
                      <a:r>
                        <a:t>Mem Target</a:t>
                      </a:r>
                    </a:p>
                  </a:txBody>
                  <a:tcPr>
                    <a:solidFill>
                      <a:srgbClr val="1E3A5F"/>
                    </a:solidFill>
                  </a:tcPr>
                </a:tc>
              </a:tr>
              <a:tr h="365760">
                <a:tc>
                  <a:txBody>
                    <a:bodyPr/>
                    <a:lstStyle/>
                    <a:p>
                      <a:pPr>
                        <a:defRPr sz="1200">
                          <a:solidFill>
                            <a:srgbClr val="333333"/>
                          </a:solidFill>
                          <a:latin typeface="Calibri"/>
                        </a:defRPr>
                      </a:pPr>
                      <a:r>
                        <a:t>Frontend</a:t>
                      </a:r>
                    </a:p>
                  </a:txBody>
                  <a:tcPr/>
                </a:tc>
                <a:tc>
                  <a:txBody>
                    <a:bodyPr/>
                    <a:lstStyle/>
                    <a:p>
                      <a:pPr>
                        <a:defRPr sz="1200">
                          <a:solidFill>
                            <a:srgbClr val="333333"/>
                          </a:solidFill>
                          <a:latin typeface="Calibri"/>
                        </a:defRPr>
                      </a:pPr>
                      <a:r>
                        <a:t>2</a:t>
                      </a:r>
                    </a:p>
                  </a:txBody>
                  <a:tcPr/>
                </a:tc>
                <a:tc>
                  <a:txBody>
                    <a:bodyPr/>
                    <a:lstStyle/>
                    <a:p>
                      <a:pPr>
                        <a:defRPr sz="1200">
                          <a:solidFill>
                            <a:srgbClr val="333333"/>
                          </a:solidFill>
                          <a:latin typeface="Calibri"/>
                        </a:defRPr>
                      </a:pPr>
                      <a:r>
                        <a:t>10</a:t>
                      </a:r>
                    </a:p>
                  </a:txBody>
                  <a:tcPr/>
                </a:tc>
                <a:tc>
                  <a:txBody>
                    <a:bodyPr/>
                    <a:lstStyle/>
                    <a:p>
                      <a:pPr>
                        <a:defRPr sz="1200">
                          <a:solidFill>
                            <a:srgbClr val="333333"/>
                          </a:solidFill>
                          <a:latin typeface="Calibri"/>
                        </a:defRPr>
                      </a:pPr>
                      <a:r>
                        <a:t>70%</a:t>
                      </a:r>
                    </a:p>
                  </a:txBody>
                  <a:tcPr/>
                </a:tc>
                <a:tc>
                  <a:txBody>
                    <a:bodyPr/>
                    <a:lstStyle/>
                    <a:p>
                      <a:pPr>
                        <a:defRPr sz="1200">
                          <a:solidFill>
                            <a:srgbClr val="333333"/>
                          </a:solidFill>
                          <a:latin typeface="Calibri"/>
                        </a:defRPr>
                      </a:pPr>
                      <a:r>
                        <a:t>80%</a:t>
                      </a:r>
                    </a:p>
                  </a:txBody>
                  <a:tcPr/>
                </a:tc>
              </a:tr>
              <a:tr h="365760">
                <a:tc>
                  <a:txBody>
                    <a:bodyPr/>
                    <a:lstStyle/>
                    <a:p>
                      <a:pPr>
                        <a:defRPr sz="1200">
                          <a:solidFill>
                            <a:srgbClr val="333333"/>
                          </a:solidFill>
                          <a:latin typeface="Calibri"/>
                        </a:defRPr>
                      </a:pPr>
                      <a:r>
                        <a:t>Backend</a:t>
                      </a:r>
                    </a:p>
                  </a:txBody>
                  <a:tcPr>
                    <a:solidFill>
                      <a:srgbClr val="F0F0F0"/>
                    </a:solidFill>
                  </a:tcPr>
                </a:tc>
                <a:tc>
                  <a:txBody>
                    <a:bodyPr/>
                    <a:lstStyle/>
                    <a:p>
                      <a:pPr>
                        <a:defRPr sz="1200">
                          <a:solidFill>
                            <a:srgbClr val="333333"/>
                          </a:solidFill>
                          <a:latin typeface="Calibri"/>
                        </a:defRPr>
                      </a:pPr>
                      <a:r>
                        <a:t>2</a:t>
                      </a:r>
                    </a:p>
                  </a:txBody>
                  <a:tcPr>
                    <a:solidFill>
                      <a:srgbClr val="F0F0F0"/>
                    </a:solidFill>
                  </a:tcPr>
                </a:tc>
                <a:tc>
                  <a:txBody>
                    <a:bodyPr/>
                    <a:lstStyle/>
                    <a:p>
                      <a:pPr>
                        <a:defRPr sz="1200">
                          <a:solidFill>
                            <a:srgbClr val="333333"/>
                          </a:solidFill>
                          <a:latin typeface="Calibri"/>
                        </a:defRPr>
                      </a:pPr>
                      <a:r>
                        <a:t>8</a:t>
                      </a:r>
                    </a:p>
                  </a:txBody>
                  <a:tcPr>
                    <a:solidFill>
                      <a:srgbClr val="F0F0F0"/>
                    </a:solidFill>
                  </a:tcPr>
                </a:tc>
                <a:tc>
                  <a:txBody>
                    <a:bodyPr/>
                    <a:lstStyle/>
                    <a:p>
                      <a:pPr>
                        <a:defRPr sz="1200">
                          <a:solidFill>
                            <a:srgbClr val="333333"/>
                          </a:solidFill>
                          <a:latin typeface="Calibri"/>
                        </a:defRPr>
                      </a:pPr>
                      <a:r>
                        <a:t>70%</a:t>
                      </a:r>
                    </a:p>
                  </a:txBody>
                  <a:tcPr>
                    <a:solidFill>
                      <a:srgbClr val="F0F0F0"/>
                    </a:solidFill>
                  </a:tcPr>
                </a:tc>
                <a:tc>
                  <a:txBody>
                    <a:bodyPr/>
                    <a:lstStyle/>
                    <a:p>
                      <a:pPr>
                        <a:defRPr sz="1200">
                          <a:solidFill>
                            <a:srgbClr val="333333"/>
                          </a:solidFill>
                          <a:latin typeface="Calibri"/>
                        </a:defRPr>
                      </a:pPr>
                      <a:r>
                        <a:t>80%</a:t>
                      </a:r>
                    </a:p>
                  </a:txBody>
                  <a:tcPr>
                    <a:solidFill>
                      <a:srgbClr val="F0F0F0"/>
                    </a:solidFill>
                  </a:tcPr>
                </a:tc>
              </a:tr>
              <a:tr h="365760">
                <a:tc>
                  <a:txBody>
                    <a:bodyPr/>
                    <a:lstStyle/>
                    <a:p>
                      <a:pPr>
                        <a:defRPr sz="1200">
                          <a:solidFill>
                            <a:srgbClr val="333333"/>
                          </a:solidFill>
                          <a:latin typeface="Calibri"/>
                        </a:defRPr>
                      </a:pPr>
                      <a:r>
                        <a:t>MongoDB</a:t>
                      </a:r>
                    </a:p>
                  </a:txBody>
                  <a:tcPr/>
                </a:tc>
                <a:tc>
                  <a:txBody>
                    <a:bodyPr/>
                    <a:lstStyle/>
                    <a:p>
                      <a:pPr>
                        <a:defRPr sz="1200">
                          <a:solidFill>
                            <a:srgbClr val="333333"/>
                          </a:solidFill>
                          <a:latin typeface="Calibri"/>
                        </a:defRPr>
                      </a:pPr>
                      <a:r>
                        <a:t>1</a:t>
                      </a:r>
                    </a:p>
                  </a:txBody>
                  <a:tcPr/>
                </a:tc>
                <a:tc>
                  <a:txBody>
                    <a:bodyPr/>
                    <a:lstStyle/>
                    <a:p>
                      <a:pPr>
                        <a:defRPr sz="1200">
                          <a:solidFill>
                            <a:srgbClr val="333333"/>
                          </a:solidFill>
                          <a:latin typeface="Calibri"/>
                        </a:defRPr>
                      </a:pPr>
                      <a:r>
                        <a:t>1 (fixed)</a:t>
                      </a:r>
                    </a:p>
                  </a:txBody>
                  <a:tcPr/>
                </a:tc>
                <a:tc>
                  <a:txBody>
                    <a:bodyPr/>
                    <a:lstStyle/>
                    <a:p>
                      <a:pPr>
                        <a:defRPr sz="1200">
                          <a:solidFill>
                            <a:srgbClr val="333333"/>
                          </a:solidFill>
                          <a:latin typeface="Calibri"/>
                        </a:defRPr>
                      </a:pPr>
                      <a:r>
                        <a:t>N/A</a:t>
                      </a:r>
                    </a:p>
                  </a:txBody>
                  <a:tcPr/>
                </a:tc>
                <a:tc>
                  <a:txBody>
                    <a:bodyPr/>
                    <a:lstStyle/>
                    <a:p>
                      <a:pPr>
                        <a:defRPr sz="1200">
                          <a:solidFill>
                            <a:srgbClr val="333333"/>
                          </a:solidFill>
                          <a:latin typeface="Calibri"/>
                        </a:defRPr>
                      </a:pPr>
                      <a:r>
                        <a:t>N/A</a:t>
                      </a:r>
                    </a:p>
                  </a:txBody>
                  <a:tcPr/>
                </a:tc>
              </a:tr>
            </a:tbl>
          </a:graphicData>
        </a:graphic>
      </p:graphicFrame>
      <p:sp>
        <p:nvSpPr>
          <p:cNvPr id="7" name="TextBox 6"/>
          <p:cNvSpPr txBox="1"/>
          <p:nvPr/>
        </p:nvSpPr>
        <p:spPr>
          <a:xfrm>
            <a:off x="548640" y="3657600"/>
            <a:ext cx="5303520" cy="1371600"/>
          </a:xfrm>
          <a:prstGeom prst="rect">
            <a:avLst/>
          </a:prstGeom>
          <a:noFill/>
        </p:spPr>
        <p:txBody>
          <a:bodyPr wrap="square">
            <a:spAutoFit/>
          </a:bodyPr>
          <a:lstStyle/>
          <a:p>
            <a:pPr>
              <a:spcAft>
                <a:spcPts val="600"/>
              </a:spcAft>
              <a:defRPr sz="1400">
                <a:solidFill>
                  <a:srgbClr val="333333"/>
                </a:solidFill>
                <a:latin typeface="Calibri"/>
              </a:defRPr>
            </a:pPr>
            <a:r>
              <a:t>• Cluster autoscaler: node count 1–5</a:t>
            </a:r>
          </a:p>
          <a:p>
            <a:pPr>
              <a:spcAft>
                <a:spcPts val="600"/>
              </a:spcAft>
              <a:defRPr sz="1400">
                <a:solidFill>
                  <a:srgbClr val="333333"/>
                </a:solidFill>
                <a:latin typeface="Calibri"/>
              </a:defRPr>
            </a:pPr>
            <a:r>
              <a:t>• Scale out on pending pods; scale in after 10 min</a:t>
            </a:r>
          </a:p>
          <a:p>
            <a:pPr>
              <a:spcAft>
                <a:spcPts val="600"/>
              </a:spcAft>
              <a:defRPr sz="1400">
                <a:solidFill>
                  <a:srgbClr val="333333"/>
                </a:solidFill>
                <a:latin typeface="Calibri"/>
              </a:defRPr>
            </a:pPr>
            <a:r>
              <a:t>• Critique: MongoDB single instance — needs Replica Set for HA</a:t>
            </a:r>
          </a:p>
          <a:p>
            <a:pPr>
              <a:spcAft>
                <a:spcPts val="600"/>
              </a:spcAft>
              <a:defRPr sz="1400">
                <a:solidFill>
                  <a:srgbClr val="333333"/>
                </a:solidFill>
                <a:latin typeface="Calibri"/>
              </a:defRPr>
            </a:pPr>
            <a:r>
              <a:t>• Critique: HPA is reactive; KEDA could enable proactive scaling</a:t>
            </a:r>
          </a:p>
        </p:txBody>
      </p:sp>
      <p:sp>
        <p:nvSpPr>
          <p:cNvPr id="8" name="TextBox 7"/>
          <p:cNvSpPr txBox="1"/>
          <p:nvPr/>
        </p:nvSpPr>
        <p:spPr>
          <a:xfrm>
            <a:off x="6400800" y="1371600"/>
            <a:ext cx="5029200" cy="365760"/>
          </a:xfrm>
          <a:prstGeom prst="rect">
            <a:avLst/>
          </a:prstGeom>
          <a:noFill/>
        </p:spPr>
        <p:txBody>
          <a:bodyPr wrap="square">
            <a:spAutoFit/>
          </a:bodyPr>
          <a:lstStyle/>
          <a:p>
            <a:pPr algn="l">
              <a:spcAft>
                <a:spcPts val="400"/>
              </a:spcAft>
              <a:defRPr sz="2000" b="1" i="0">
                <a:solidFill>
                  <a:srgbClr val="1E3A5F"/>
                </a:solidFill>
                <a:latin typeface="Calibri"/>
              </a:defRPr>
            </a:pPr>
            <a:r>
              <a:t>Backup &amp; Restore</a:t>
            </a:r>
          </a:p>
        </p:txBody>
      </p:sp>
      <p:graphicFrame>
        <p:nvGraphicFramePr>
          <p:cNvPr id="9" name="Table 8"/>
          <p:cNvGraphicFramePr>
            <a:graphicFrameLocks noGrp="1"/>
          </p:cNvGraphicFramePr>
          <p:nvPr/>
        </p:nvGraphicFramePr>
        <p:xfrm>
          <a:off x="6400800" y="1920240"/>
          <a:ext cx="5029200" cy="1097280"/>
        </p:xfrm>
        <a:graphic>
          <a:graphicData uri="http://schemas.openxmlformats.org/drawingml/2006/table">
            <a:tbl>
              <a:tblPr firstRow="1" bandRow="1">
                <a:tableStyleId>{5C22544A-7EE6-4342-B048-85BDC9FD1C3A}</a:tableStyleId>
              </a:tblPr>
              <a:tblGrid>
                <a:gridCol w="1676400"/>
                <a:gridCol w="1676400"/>
                <a:gridCol w="1676400"/>
              </a:tblGrid>
              <a:tr h="365760">
                <a:tc>
                  <a:txBody>
                    <a:bodyPr/>
                    <a:lstStyle/>
                    <a:p>
                      <a:pPr>
                        <a:defRPr sz="1200" b="1">
                          <a:solidFill>
                            <a:srgbClr val="FFFFFF"/>
                          </a:solidFill>
                          <a:latin typeface="Calibri"/>
                        </a:defRPr>
                      </a:pPr>
                      <a:r>
                        <a:t>Metric</a:t>
                      </a:r>
                    </a:p>
                  </a:txBody>
                  <a:tcPr>
                    <a:solidFill>
                      <a:srgbClr val="1E3A5F"/>
                    </a:solidFill>
                  </a:tcPr>
                </a:tc>
                <a:tc>
                  <a:txBody>
                    <a:bodyPr/>
                    <a:lstStyle/>
                    <a:p>
                      <a:pPr>
                        <a:defRPr sz="1200" b="1">
                          <a:solidFill>
                            <a:srgbClr val="FFFFFF"/>
                          </a:solidFill>
                          <a:latin typeface="Calibri"/>
                        </a:defRPr>
                      </a:pPr>
                      <a:r>
                        <a:t>Target</a:t>
                      </a:r>
                    </a:p>
                  </a:txBody>
                  <a:tcPr>
                    <a:solidFill>
                      <a:srgbClr val="1E3A5F"/>
                    </a:solidFill>
                  </a:tcPr>
                </a:tc>
                <a:tc>
                  <a:txBody>
                    <a:bodyPr/>
                    <a:lstStyle/>
                    <a:p>
                      <a:pPr>
                        <a:defRPr sz="1200" b="1">
                          <a:solidFill>
                            <a:srgbClr val="FFFFFF"/>
                          </a:solidFill>
                          <a:latin typeface="Calibri"/>
                        </a:defRPr>
                      </a:pPr>
                      <a:r>
                        <a:t>Justification</a:t>
                      </a:r>
                    </a:p>
                  </a:txBody>
                  <a:tcPr>
                    <a:solidFill>
                      <a:srgbClr val="1E3A5F"/>
                    </a:solidFill>
                  </a:tcPr>
                </a:tc>
              </a:tr>
              <a:tr h="365760">
                <a:tc>
                  <a:txBody>
                    <a:bodyPr/>
                    <a:lstStyle/>
                    <a:p>
                      <a:pPr>
                        <a:defRPr sz="1200">
                          <a:solidFill>
                            <a:srgbClr val="333333"/>
                          </a:solidFill>
                          <a:latin typeface="Calibri"/>
                        </a:defRPr>
                      </a:pPr>
                      <a:r>
                        <a:t>RPO (max data loss)</a:t>
                      </a:r>
                    </a:p>
                  </a:txBody>
                  <a:tcPr/>
                </a:tc>
                <a:tc>
                  <a:txBody>
                    <a:bodyPr/>
                    <a:lstStyle/>
                    <a:p>
                      <a:pPr>
                        <a:defRPr sz="1200">
                          <a:solidFill>
                            <a:srgbClr val="333333"/>
                          </a:solidFill>
                          <a:latin typeface="Calibri"/>
                        </a:defRPr>
                      </a:pPr>
                      <a:r>
                        <a:t>24 hours</a:t>
                      </a:r>
                    </a:p>
                  </a:txBody>
                  <a:tcPr/>
                </a:tc>
                <a:tc>
                  <a:txBody>
                    <a:bodyPr/>
                    <a:lstStyle/>
                    <a:p>
                      <a:pPr>
                        <a:defRPr sz="1200">
                          <a:solidFill>
                            <a:srgbClr val="333333"/>
                          </a:solidFill>
                          <a:latin typeface="Calibri"/>
                        </a:defRPr>
                      </a:pPr>
                      <a:r>
                        <a:t>Daily backups</a:t>
                      </a:r>
                    </a:p>
                  </a:txBody>
                  <a:tcPr/>
                </a:tc>
              </a:tr>
              <a:tr h="365760">
                <a:tc>
                  <a:txBody>
                    <a:bodyPr/>
                    <a:lstStyle/>
                    <a:p>
                      <a:pPr>
                        <a:defRPr sz="1200">
                          <a:solidFill>
                            <a:srgbClr val="333333"/>
                          </a:solidFill>
                          <a:latin typeface="Calibri"/>
                        </a:defRPr>
                      </a:pPr>
                      <a:r>
                        <a:t>RTO (max downtime)</a:t>
                      </a:r>
                    </a:p>
                  </a:txBody>
                  <a:tcPr>
                    <a:solidFill>
                      <a:srgbClr val="F0F0F0"/>
                    </a:solidFill>
                  </a:tcPr>
                </a:tc>
                <a:tc>
                  <a:txBody>
                    <a:bodyPr/>
                    <a:lstStyle/>
                    <a:p>
                      <a:pPr>
                        <a:defRPr sz="1200">
                          <a:solidFill>
                            <a:srgbClr val="333333"/>
                          </a:solidFill>
                          <a:latin typeface="Calibri"/>
                        </a:defRPr>
                      </a:pPr>
                      <a:r>
                        <a:t>1 hour</a:t>
                      </a:r>
                    </a:p>
                  </a:txBody>
                  <a:tcPr>
                    <a:solidFill>
                      <a:srgbClr val="F0F0F0"/>
                    </a:solidFill>
                  </a:tcPr>
                </a:tc>
                <a:tc>
                  <a:txBody>
                    <a:bodyPr/>
                    <a:lstStyle/>
                    <a:p>
                      <a:pPr>
                        <a:defRPr sz="1200">
                          <a:solidFill>
                            <a:srgbClr val="333333"/>
                          </a:solidFill>
                          <a:latin typeface="Calibri"/>
                        </a:defRPr>
                      </a:pPr>
                      <a:r>
                        <a:t>Restore + redeploy</a:t>
                      </a:r>
                    </a:p>
                  </a:txBody>
                  <a:tcPr>
                    <a:solidFill>
                      <a:srgbClr val="F0F0F0"/>
                    </a:solidFill>
                  </a:tcPr>
                </a:tc>
              </a:tr>
            </a:tbl>
          </a:graphicData>
        </a:graphic>
      </p:graphicFrame>
      <p:sp>
        <p:nvSpPr>
          <p:cNvPr id="10" name="TextBox 9"/>
          <p:cNvSpPr txBox="1"/>
          <p:nvPr/>
        </p:nvSpPr>
        <p:spPr>
          <a:xfrm>
            <a:off x="6400800" y="3474720"/>
            <a:ext cx="5029200" cy="1828800"/>
          </a:xfrm>
          <a:prstGeom prst="rect">
            <a:avLst/>
          </a:prstGeom>
          <a:noFill/>
        </p:spPr>
        <p:txBody>
          <a:bodyPr wrap="square">
            <a:spAutoFit/>
          </a:bodyPr>
          <a:lstStyle/>
          <a:p>
            <a:pPr>
              <a:spcAft>
                <a:spcPts val="600"/>
              </a:spcAft>
              <a:defRPr sz="1400">
                <a:solidFill>
                  <a:srgbClr val="333333"/>
                </a:solidFill>
                <a:latin typeface="Calibri"/>
              </a:defRPr>
            </a:pPr>
            <a:r>
              <a:t>• K8s CronJob: mongodump daily at 02:00 UTC</a:t>
            </a:r>
          </a:p>
          <a:p>
            <a:pPr>
              <a:spcAft>
                <a:spcPts val="600"/>
              </a:spcAft>
              <a:defRPr sz="1400">
                <a:solidFill>
                  <a:srgbClr val="333333"/>
                </a:solidFill>
                <a:latin typeface="Calibri"/>
              </a:defRPr>
            </a:pPr>
            <a:r>
              <a:t>• Compressed with tar/gzip</a:t>
            </a:r>
          </a:p>
          <a:p>
            <a:pPr>
              <a:spcAft>
                <a:spcPts val="600"/>
              </a:spcAft>
              <a:defRPr sz="1400">
                <a:solidFill>
                  <a:srgbClr val="333333"/>
                </a:solidFill>
                <a:latin typeface="Calibri"/>
              </a:defRPr>
            </a:pPr>
            <a:r>
              <a:t>• 7-day rolling retention with auto-cleanup</a:t>
            </a:r>
          </a:p>
          <a:p>
            <a:pPr>
              <a:spcAft>
                <a:spcPts val="600"/>
              </a:spcAft>
              <a:defRPr sz="1400">
                <a:solidFill>
                  <a:srgbClr val="333333"/>
                </a:solidFill>
                <a:latin typeface="Calibri"/>
              </a:defRPr>
            </a:pPr>
            <a:r>
              <a:t>• Critique: Should upload to Azure Blob for durability</a:t>
            </a:r>
          </a:p>
          <a:p>
            <a:pPr>
              <a:spcAft>
                <a:spcPts val="600"/>
              </a:spcAft>
              <a:defRPr sz="1400">
                <a:solidFill>
                  <a:srgbClr val="333333"/>
                </a:solidFill>
                <a:latin typeface="Calibri"/>
              </a:defRPr>
            </a:pPr>
            <a:r>
              <a:t>• Critique: Monthly restore tests needed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Security — Defence in Depth</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0972800" cy="365760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defRPr sz="1100" b="1">
                          <a:solidFill>
                            <a:srgbClr val="FFFFFF"/>
                          </a:solidFill>
                          <a:latin typeface="Calibri"/>
                        </a:defRPr>
                      </a:pPr>
                      <a:r>
                        <a:t>Layer</a:t>
                      </a:r>
                    </a:p>
                  </a:txBody>
                  <a:tcPr>
                    <a:solidFill>
                      <a:srgbClr val="1E3A5F"/>
                    </a:solidFill>
                  </a:tcPr>
                </a:tc>
                <a:tc>
                  <a:txBody>
                    <a:bodyPr/>
                    <a:lstStyle/>
                    <a:p>
                      <a:pPr>
                        <a:defRPr sz="1100" b="1">
                          <a:solidFill>
                            <a:srgbClr val="FFFFFF"/>
                          </a:solidFill>
                          <a:latin typeface="Calibri"/>
                        </a:defRPr>
                      </a:pPr>
                      <a:r>
                        <a:t>Measure</a:t>
                      </a:r>
                    </a:p>
                  </a:txBody>
                  <a:tcPr>
                    <a:solidFill>
                      <a:srgbClr val="1E3A5F"/>
                    </a:solidFill>
                  </a:tcPr>
                </a:tc>
                <a:tc>
                  <a:txBody>
                    <a:bodyPr/>
                    <a:lstStyle/>
                    <a:p>
                      <a:pPr>
                        <a:defRPr sz="1100" b="1">
                          <a:solidFill>
                            <a:srgbClr val="FFFFFF"/>
                          </a:solidFill>
                          <a:latin typeface="Calibri"/>
                        </a:defRPr>
                      </a:pPr>
                      <a:r>
                        <a:t>Implementation</a:t>
                      </a:r>
                    </a:p>
                  </a:txBody>
                  <a:tcPr>
                    <a:solidFill>
                      <a:srgbClr val="1E3A5F"/>
                    </a:solidFill>
                  </a:tcPr>
                </a:tc>
              </a:tr>
              <a:tr h="365760">
                <a:tc>
                  <a:txBody>
                    <a:bodyPr/>
                    <a:lstStyle/>
                    <a:p>
                      <a:pPr>
                        <a:defRPr sz="1100">
                          <a:solidFill>
                            <a:srgbClr val="333333"/>
                          </a:solidFill>
                          <a:latin typeface="Calibri"/>
                        </a:defRPr>
                      </a:pPr>
                      <a:r>
                        <a:t>Network</a:t>
                      </a:r>
                    </a:p>
                  </a:txBody>
                  <a:tcPr/>
                </a:tc>
                <a:tc>
                  <a:txBody>
                    <a:bodyPr/>
                    <a:lstStyle/>
                    <a:p>
                      <a:pPr>
                        <a:defRPr sz="1100">
                          <a:solidFill>
                            <a:srgbClr val="333333"/>
                          </a:solidFill>
                          <a:latin typeface="Calibri"/>
                        </a:defRPr>
                      </a:pPr>
                      <a:r>
                        <a:t>VNet isolation</a:t>
                      </a:r>
                    </a:p>
                  </a:txBody>
                  <a:tcPr/>
                </a:tc>
                <a:tc>
                  <a:txBody>
                    <a:bodyPr/>
                    <a:lstStyle/>
                    <a:p>
                      <a:pPr>
                        <a:defRPr sz="1100">
                          <a:solidFill>
                            <a:srgbClr val="333333"/>
                          </a:solidFill>
                          <a:latin typeface="Calibri"/>
                        </a:defRPr>
                      </a:pPr>
                      <a:r>
                        <a:t>AKS on dedicated subnet (10.0.1.0/24)</a:t>
                      </a:r>
                    </a:p>
                  </a:txBody>
                  <a:tcPr/>
                </a:tc>
              </a:tr>
              <a:tr h="365760">
                <a:tc>
                  <a:txBody>
                    <a:bodyPr/>
                    <a:lstStyle/>
                    <a:p>
                      <a:pPr>
                        <a:defRPr sz="1100">
                          <a:solidFill>
                            <a:srgbClr val="333333"/>
                          </a:solidFill>
                          <a:latin typeface="Calibri"/>
                        </a:defRPr>
                      </a:pPr>
                      <a:r>
                        <a:t>Network</a:t>
                      </a:r>
                    </a:p>
                  </a:txBody>
                  <a:tcPr>
                    <a:solidFill>
                      <a:srgbClr val="F0F0F0"/>
                    </a:solidFill>
                  </a:tcPr>
                </a:tc>
                <a:tc>
                  <a:txBody>
                    <a:bodyPr/>
                    <a:lstStyle/>
                    <a:p>
                      <a:pPr>
                        <a:defRPr sz="1100">
                          <a:solidFill>
                            <a:srgbClr val="333333"/>
                          </a:solidFill>
                          <a:latin typeface="Calibri"/>
                        </a:defRPr>
                      </a:pPr>
                      <a:r>
                        <a:t>Network policies</a:t>
                      </a:r>
                    </a:p>
                  </a:txBody>
                  <a:tcPr>
                    <a:solidFill>
                      <a:srgbClr val="F0F0F0"/>
                    </a:solidFill>
                  </a:tcPr>
                </a:tc>
                <a:tc>
                  <a:txBody>
                    <a:bodyPr/>
                    <a:lstStyle/>
                    <a:p>
                      <a:pPr>
                        <a:defRPr sz="1100">
                          <a:solidFill>
                            <a:srgbClr val="333333"/>
                          </a:solidFill>
                          <a:latin typeface="Calibri"/>
                        </a:defRPr>
                      </a:pPr>
                      <a:r>
                        <a:t>Calico for pod-to-pod traffic control</a:t>
                      </a:r>
                    </a:p>
                  </a:txBody>
                  <a:tcPr>
                    <a:solidFill>
                      <a:srgbClr val="F0F0F0"/>
                    </a:solidFill>
                  </a:tcPr>
                </a:tc>
              </a:tr>
              <a:tr h="365760">
                <a:tc>
                  <a:txBody>
                    <a:bodyPr/>
                    <a:lstStyle/>
                    <a:p>
                      <a:pPr>
                        <a:defRPr sz="1100">
                          <a:solidFill>
                            <a:srgbClr val="333333"/>
                          </a:solidFill>
                          <a:latin typeface="Calibri"/>
                        </a:defRPr>
                      </a:pPr>
                      <a:r>
                        <a:t>Container</a:t>
                      </a:r>
                    </a:p>
                  </a:txBody>
                  <a:tcPr/>
                </a:tc>
                <a:tc>
                  <a:txBody>
                    <a:bodyPr/>
                    <a:lstStyle/>
                    <a:p>
                      <a:pPr>
                        <a:defRPr sz="1100">
                          <a:solidFill>
                            <a:srgbClr val="333333"/>
                          </a:solidFill>
                          <a:latin typeface="Calibri"/>
                        </a:defRPr>
                      </a:pPr>
                      <a:r>
                        <a:t>Non-root execution</a:t>
                      </a:r>
                    </a:p>
                  </a:txBody>
                  <a:tcPr/>
                </a:tc>
                <a:tc>
                  <a:txBody>
                    <a:bodyPr/>
                    <a:lstStyle/>
                    <a:p>
                      <a:pPr>
                        <a:defRPr sz="1100">
                          <a:solidFill>
                            <a:srgbClr val="333333"/>
                          </a:solidFill>
                          <a:latin typeface="Calibri"/>
                        </a:defRPr>
                      </a:pPr>
                      <a:r>
                        <a:t>Dockerfiles create appuser; runAsNonRoot: true</a:t>
                      </a:r>
                    </a:p>
                  </a:txBody>
                  <a:tcPr/>
                </a:tc>
              </a:tr>
              <a:tr h="365760">
                <a:tc>
                  <a:txBody>
                    <a:bodyPr/>
                    <a:lstStyle/>
                    <a:p>
                      <a:pPr>
                        <a:defRPr sz="1100">
                          <a:solidFill>
                            <a:srgbClr val="333333"/>
                          </a:solidFill>
                          <a:latin typeface="Calibri"/>
                        </a:defRPr>
                      </a:pPr>
                      <a:r>
                        <a:t>Container</a:t>
                      </a:r>
                    </a:p>
                  </a:txBody>
                  <a:tcPr>
                    <a:solidFill>
                      <a:srgbClr val="F0F0F0"/>
                    </a:solidFill>
                  </a:tcPr>
                </a:tc>
                <a:tc>
                  <a:txBody>
                    <a:bodyPr/>
                    <a:lstStyle/>
                    <a:p>
                      <a:pPr>
                        <a:defRPr sz="1100">
                          <a:solidFill>
                            <a:srgbClr val="333333"/>
                          </a:solidFill>
                          <a:latin typeface="Calibri"/>
                        </a:defRPr>
                      </a:pPr>
                      <a:r>
                        <a:t>Minimal images</a:t>
                      </a:r>
                    </a:p>
                  </a:txBody>
                  <a:tcPr>
                    <a:solidFill>
                      <a:srgbClr val="F0F0F0"/>
                    </a:solidFill>
                  </a:tcPr>
                </a:tc>
                <a:tc>
                  <a:txBody>
                    <a:bodyPr/>
                    <a:lstStyle/>
                    <a:p>
                      <a:pPr>
                        <a:defRPr sz="1100">
                          <a:solidFill>
                            <a:srgbClr val="333333"/>
                          </a:solidFill>
                          <a:latin typeface="Calibri"/>
                        </a:defRPr>
                      </a:pPr>
                      <a:r>
                        <a:t>Alpine-based (~5 MB base layer)</a:t>
                      </a:r>
                    </a:p>
                  </a:txBody>
                  <a:tcPr>
                    <a:solidFill>
                      <a:srgbClr val="F0F0F0"/>
                    </a:solidFill>
                  </a:tcPr>
                </a:tc>
              </a:tr>
              <a:tr h="365760">
                <a:tc>
                  <a:txBody>
                    <a:bodyPr/>
                    <a:lstStyle/>
                    <a:p>
                      <a:pPr>
                        <a:defRPr sz="1100">
                          <a:solidFill>
                            <a:srgbClr val="333333"/>
                          </a:solidFill>
                          <a:latin typeface="Calibri"/>
                        </a:defRPr>
                      </a:pPr>
                      <a:r>
                        <a:t>Registry</a:t>
                      </a:r>
                    </a:p>
                  </a:txBody>
                  <a:tcPr/>
                </a:tc>
                <a:tc>
                  <a:txBody>
                    <a:bodyPr/>
                    <a:lstStyle/>
                    <a:p>
                      <a:pPr>
                        <a:defRPr sz="1100">
                          <a:solidFill>
                            <a:srgbClr val="333333"/>
                          </a:solidFill>
                          <a:latin typeface="Calibri"/>
                        </a:defRPr>
                      </a:pPr>
                      <a:r>
                        <a:t>No admin credentials</a:t>
                      </a:r>
                    </a:p>
                  </a:txBody>
                  <a:tcPr/>
                </a:tc>
                <a:tc>
                  <a:txBody>
                    <a:bodyPr/>
                    <a:lstStyle/>
                    <a:p>
                      <a:pPr>
                        <a:defRPr sz="1100">
                          <a:solidFill>
                            <a:srgbClr val="333333"/>
                          </a:solidFill>
                          <a:latin typeface="Calibri"/>
                        </a:defRPr>
                      </a:pPr>
                      <a:r>
                        <a:t>Managed Identity with AcrPull role</a:t>
                      </a:r>
                    </a:p>
                  </a:txBody>
                  <a:tcPr/>
                </a:tc>
              </a:tr>
              <a:tr h="365760">
                <a:tc>
                  <a:txBody>
                    <a:bodyPr/>
                    <a:lstStyle/>
                    <a:p>
                      <a:pPr>
                        <a:defRPr sz="1100">
                          <a:solidFill>
                            <a:srgbClr val="333333"/>
                          </a:solidFill>
                          <a:latin typeface="Calibri"/>
                        </a:defRPr>
                      </a:pPr>
                      <a:r>
                        <a:t>Application</a:t>
                      </a:r>
                    </a:p>
                  </a:txBody>
                  <a:tcPr>
                    <a:solidFill>
                      <a:srgbClr val="F0F0F0"/>
                    </a:solidFill>
                  </a:tcPr>
                </a:tc>
                <a:tc>
                  <a:txBody>
                    <a:bodyPr/>
                    <a:lstStyle/>
                    <a:p>
                      <a:pPr>
                        <a:defRPr sz="1100">
                          <a:solidFill>
                            <a:srgbClr val="333333"/>
                          </a:solidFill>
                          <a:latin typeface="Calibri"/>
                        </a:defRPr>
                      </a:pPr>
                      <a:r>
                        <a:t>Security headers</a:t>
                      </a:r>
                    </a:p>
                  </a:txBody>
                  <a:tcPr>
                    <a:solidFill>
                      <a:srgbClr val="F0F0F0"/>
                    </a:solidFill>
                  </a:tcPr>
                </a:tc>
                <a:tc>
                  <a:txBody>
                    <a:bodyPr/>
                    <a:lstStyle/>
                    <a:p>
                      <a:pPr>
                        <a:defRPr sz="1100">
                          <a:solidFill>
                            <a:srgbClr val="333333"/>
                          </a:solidFill>
                          <a:latin typeface="Calibri"/>
                        </a:defRPr>
                      </a:pPr>
                      <a:r>
                        <a:t>Helmet.js (HSTS, CSP, X-Frame-Options)</a:t>
                      </a:r>
                    </a:p>
                  </a:txBody>
                  <a:tcPr>
                    <a:solidFill>
                      <a:srgbClr val="F0F0F0"/>
                    </a:solidFill>
                  </a:tcPr>
                </a:tc>
              </a:tr>
              <a:tr h="365760">
                <a:tc>
                  <a:txBody>
                    <a:bodyPr/>
                    <a:lstStyle/>
                    <a:p>
                      <a:pPr>
                        <a:defRPr sz="1100">
                          <a:solidFill>
                            <a:srgbClr val="333333"/>
                          </a:solidFill>
                          <a:latin typeface="Calibri"/>
                        </a:defRPr>
                      </a:pPr>
                      <a:r>
                        <a:t>Application</a:t>
                      </a:r>
                    </a:p>
                  </a:txBody>
                  <a:tcPr/>
                </a:tc>
                <a:tc>
                  <a:txBody>
                    <a:bodyPr/>
                    <a:lstStyle/>
                    <a:p>
                      <a:pPr>
                        <a:defRPr sz="1100">
                          <a:solidFill>
                            <a:srgbClr val="333333"/>
                          </a:solidFill>
                          <a:latin typeface="Calibri"/>
                        </a:defRPr>
                      </a:pPr>
                      <a:r>
                        <a:t>Input validation</a:t>
                      </a:r>
                    </a:p>
                  </a:txBody>
                  <a:tcPr/>
                </a:tc>
                <a:tc>
                  <a:txBody>
                    <a:bodyPr/>
                    <a:lstStyle/>
                    <a:p>
                      <a:pPr>
                        <a:defRPr sz="1100">
                          <a:solidFill>
                            <a:srgbClr val="333333"/>
                          </a:solidFill>
                          <a:latin typeface="Calibri"/>
                        </a:defRPr>
                      </a:pPr>
                      <a:r>
                        <a:t>Jakarta Bean Validation on backend</a:t>
                      </a:r>
                    </a:p>
                  </a:txBody>
                  <a:tcPr/>
                </a:tc>
              </a:tr>
              <a:tr h="365760">
                <a:tc>
                  <a:txBody>
                    <a:bodyPr/>
                    <a:lstStyle/>
                    <a:p>
                      <a:pPr>
                        <a:defRPr sz="1100">
                          <a:solidFill>
                            <a:srgbClr val="333333"/>
                          </a:solidFill>
                          <a:latin typeface="Calibri"/>
                        </a:defRPr>
                      </a:pPr>
                      <a:r>
                        <a:t>Application</a:t>
                      </a:r>
                    </a:p>
                  </a:txBody>
                  <a:tcPr>
                    <a:solidFill>
                      <a:srgbClr val="F0F0F0"/>
                    </a:solidFill>
                  </a:tcPr>
                </a:tc>
                <a:tc>
                  <a:txBody>
                    <a:bodyPr/>
                    <a:lstStyle/>
                    <a:p>
                      <a:pPr>
                        <a:defRPr sz="1100">
                          <a:solidFill>
                            <a:srgbClr val="333333"/>
                          </a:solidFill>
                          <a:latin typeface="Calibri"/>
                        </a:defRPr>
                      </a:pPr>
                      <a:r>
                        <a:t>Rate limiting</a:t>
                      </a:r>
                    </a:p>
                  </a:txBody>
                  <a:tcPr>
                    <a:solidFill>
                      <a:srgbClr val="F0F0F0"/>
                    </a:solidFill>
                  </a:tcPr>
                </a:tc>
                <a:tc>
                  <a:txBody>
                    <a:bodyPr/>
                    <a:lstStyle/>
                    <a:p>
                      <a:pPr>
                        <a:defRPr sz="1100">
                          <a:solidFill>
                            <a:srgbClr val="333333"/>
                          </a:solidFill>
                          <a:latin typeface="Calibri"/>
                        </a:defRPr>
                      </a:pPr>
                      <a:r>
                        <a:t>express-rate-limit (100 req/15 min)</a:t>
                      </a:r>
                    </a:p>
                  </a:txBody>
                  <a:tcPr>
                    <a:solidFill>
                      <a:srgbClr val="F0F0F0"/>
                    </a:solidFill>
                  </a:tcPr>
                </a:tc>
              </a:tr>
              <a:tr h="365760">
                <a:tc>
                  <a:txBody>
                    <a:bodyPr/>
                    <a:lstStyle/>
                    <a:p>
                      <a:pPr>
                        <a:defRPr sz="1100">
                          <a:solidFill>
                            <a:srgbClr val="333333"/>
                          </a:solidFill>
                          <a:latin typeface="Calibri"/>
                        </a:defRPr>
                      </a:pPr>
                      <a:r>
                        <a:t>Supply chain</a:t>
                      </a:r>
                    </a:p>
                  </a:txBody>
                  <a:tcPr/>
                </a:tc>
                <a:tc>
                  <a:txBody>
                    <a:bodyPr/>
                    <a:lstStyle/>
                    <a:p>
                      <a:pPr>
                        <a:defRPr sz="1100">
                          <a:solidFill>
                            <a:srgbClr val="333333"/>
                          </a:solidFill>
                          <a:latin typeface="Calibri"/>
                        </a:defRPr>
                      </a:pPr>
                      <a:r>
                        <a:t>Vuln scanning</a:t>
                      </a:r>
                    </a:p>
                  </a:txBody>
                  <a:tcPr/>
                </a:tc>
                <a:tc>
                  <a:txBody>
                    <a:bodyPr/>
                    <a:lstStyle/>
                    <a:p>
                      <a:pPr>
                        <a:defRPr sz="1100">
                          <a:solidFill>
                            <a:srgbClr val="333333"/>
                          </a:solidFill>
                          <a:latin typeface="Calibri"/>
                        </a:defRPr>
                      </a:pPr>
                      <a:r>
                        <a:t>Trivy in CI — fail on CRITICAL</a:t>
                      </a:r>
                    </a:p>
                  </a:txBody>
                  <a:tcPr/>
                </a:tc>
              </a:tr>
            </a:tbl>
          </a:graphicData>
        </a:graphic>
      </p:graphicFrame>
      <p:sp>
        <p:nvSpPr>
          <p:cNvPr id="6" name="TextBox 5"/>
          <p:cNvSpPr txBox="1"/>
          <p:nvPr/>
        </p:nvSpPr>
        <p:spPr>
          <a:xfrm>
            <a:off x="548640" y="5303520"/>
            <a:ext cx="10972800" cy="1097280"/>
          </a:xfrm>
          <a:prstGeom prst="rect">
            <a:avLst/>
          </a:prstGeom>
          <a:noFill/>
        </p:spPr>
        <p:txBody>
          <a:bodyPr wrap="square">
            <a:spAutoFit/>
          </a:bodyPr>
          <a:lstStyle/>
          <a:p>
            <a:pPr algn="l">
              <a:spcAft>
                <a:spcPts val="400"/>
              </a:spcAft>
              <a:defRPr sz="1400" b="0" i="1">
                <a:solidFill>
                  <a:srgbClr val="884400"/>
                </a:solidFill>
                <a:latin typeface="Calibri"/>
              </a:defRPr>
            </a:pPr>
            <a:r>
              <a:t>Critique: Production additions needed — explicit NetworkPolicy resources, Pod Security Standards (Restricted), Azure Key Vault for secrets, Application Gateway WAF, cert-manager + Let's Encrypt for TLS, and Notary v2 for image signing.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Cost Analysis</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371600" y="1371600"/>
          <a:ext cx="9144000" cy="2560320"/>
        </p:xfrm>
        <a:graphic>
          <a:graphicData uri="http://schemas.openxmlformats.org/drawingml/2006/table">
            <a:tbl>
              <a:tblPr firstRow="1" bandRow="1">
                <a:tableStyleId>{5C22544A-7EE6-4342-B048-85BDC9FD1C3A}</a:tableStyleId>
              </a:tblPr>
              <a:tblGrid>
                <a:gridCol w="3048000"/>
                <a:gridCol w="3048000"/>
                <a:gridCol w="3048000"/>
              </a:tblGrid>
              <a:tr h="365760">
                <a:tc>
                  <a:txBody>
                    <a:bodyPr/>
                    <a:lstStyle/>
                    <a:p>
                      <a:pPr>
                        <a:defRPr sz="1300" b="1">
                          <a:solidFill>
                            <a:srgbClr val="FFFFFF"/>
                          </a:solidFill>
                          <a:latin typeface="Calibri"/>
                        </a:defRPr>
                      </a:pPr>
                      <a:r>
                        <a:t>Component</a:t>
                      </a:r>
                    </a:p>
                  </a:txBody>
                  <a:tcPr>
                    <a:solidFill>
                      <a:srgbClr val="1E3A5F"/>
                    </a:solidFill>
                  </a:tcPr>
                </a:tc>
                <a:tc>
                  <a:txBody>
                    <a:bodyPr/>
                    <a:lstStyle/>
                    <a:p>
                      <a:pPr>
                        <a:defRPr sz="1300" b="1">
                          <a:solidFill>
                            <a:srgbClr val="FFFFFF"/>
                          </a:solidFill>
                          <a:latin typeface="Calibri"/>
                        </a:defRPr>
                      </a:pPr>
                      <a:r>
                        <a:t>Dev Cost/Month</a:t>
                      </a:r>
                    </a:p>
                  </a:txBody>
                  <a:tcPr>
                    <a:solidFill>
                      <a:srgbClr val="1E3A5F"/>
                    </a:solidFill>
                  </a:tcPr>
                </a:tc>
                <a:tc>
                  <a:txBody>
                    <a:bodyPr/>
                    <a:lstStyle/>
                    <a:p>
                      <a:pPr>
                        <a:defRPr sz="1300" b="1">
                          <a:solidFill>
                            <a:srgbClr val="FFFFFF"/>
                          </a:solidFill>
                          <a:latin typeface="Calibri"/>
                        </a:defRPr>
                      </a:pPr>
                      <a:r>
                        <a:t>Prod Cost/Month</a:t>
                      </a:r>
                    </a:p>
                  </a:txBody>
                  <a:tcPr>
                    <a:solidFill>
                      <a:srgbClr val="1E3A5F"/>
                    </a:solidFill>
                  </a:tcPr>
                </a:tc>
              </a:tr>
              <a:tr h="365760">
                <a:tc>
                  <a:txBody>
                    <a:bodyPr/>
                    <a:lstStyle/>
                    <a:p>
                      <a:pPr>
                        <a:defRPr sz="1300">
                          <a:solidFill>
                            <a:srgbClr val="333333"/>
                          </a:solidFill>
                          <a:latin typeface="Calibri"/>
                        </a:defRPr>
                      </a:pPr>
                      <a:r>
                        <a:t>AKS Control Plane</a:t>
                      </a:r>
                    </a:p>
                  </a:txBody>
                  <a:tcPr/>
                </a:tc>
                <a:tc>
                  <a:txBody>
                    <a:bodyPr/>
                    <a:lstStyle/>
                    <a:p>
                      <a:pPr>
                        <a:defRPr sz="1300">
                          <a:solidFill>
                            <a:srgbClr val="333333"/>
                          </a:solidFill>
                          <a:latin typeface="Calibri"/>
                        </a:defRPr>
                      </a:pPr>
                      <a:r>
                        <a:t>$0 (free tier)</a:t>
                      </a:r>
                    </a:p>
                  </a:txBody>
                  <a:tcPr/>
                </a:tc>
                <a:tc>
                  <a:txBody>
                    <a:bodyPr/>
                    <a:lstStyle/>
                    <a:p>
                      <a:pPr>
                        <a:defRPr sz="1300">
                          <a:solidFill>
                            <a:srgbClr val="333333"/>
                          </a:solidFill>
                          <a:latin typeface="Calibri"/>
                        </a:defRPr>
                      </a:pPr>
                      <a:r>
                        <a:t>~$73 (Standard)</a:t>
                      </a:r>
                    </a:p>
                  </a:txBody>
                  <a:tcPr/>
                </a:tc>
              </a:tr>
              <a:tr h="365760">
                <a:tc>
                  <a:txBody>
                    <a:bodyPr/>
                    <a:lstStyle/>
                    <a:p>
                      <a:pPr>
                        <a:defRPr sz="1300">
                          <a:solidFill>
                            <a:srgbClr val="333333"/>
                          </a:solidFill>
                          <a:latin typeface="Calibri"/>
                        </a:defRPr>
                      </a:pPr>
                      <a:r>
                        <a:t>AKS Node VMs</a:t>
                      </a:r>
                    </a:p>
                  </a:txBody>
                  <a:tcPr>
                    <a:solidFill>
                      <a:srgbClr val="F0F0F0"/>
                    </a:solidFill>
                  </a:tcPr>
                </a:tc>
                <a:tc>
                  <a:txBody>
                    <a:bodyPr/>
                    <a:lstStyle/>
                    <a:p>
                      <a:pPr>
                        <a:defRPr sz="1300">
                          <a:solidFill>
                            <a:srgbClr val="333333"/>
                          </a:solidFill>
                          <a:latin typeface="Calibri"/>
                        </a:defRPr>
                      </a:pPr>
                      <a:r>
                        <a:t>~$60 (2× B2s)</a:t>
                      </a:r>
                    </a:p>
                  </a:txBody>
                  <a:tcPr>
                    <a:solidFill>
                      <a:srgbClr val="F0F0F0"/>
                    </a:solidFill>
                  </a:tcPr>
                </a:tc>
                <a:tc>
                  <a:txBody>
                    <a:bodyPr/>
                    <a:lstStyle/>
                    <a:p>
                      <a:pPr>
                        <a:defRPr sz="1300">
                          <a:solidFill>
                            <a:srgbClr val="333333"/>
                          </a:solidFill>
                          <a:latin typeface="Calibri"/>
                        </a:defRPr>
                      </a:pPr>
                      <a:r>
                        <a:t>~$210 (3× D2s_v3)</a:t>
                      </a:r>
                    </a:p>
                  </a:txBody>
                  <a:tcPr>
                    <a:solidFill>
                      <a:srgbClr val="F0F0F0"/>
                    </a:solidFill>
                  </a:tcPr>
                </a:tc>
              </a:tr>
              <a:tr h="365760">
                <a:tc>
                  <a:txBody>
                    <a:bodyPr/>
                    <a:lstStyle/>
                    <a:p>
                      <a:pPr>
                        <a:defRPr sz="1300">
                          <a:solidFill>
                            <a:srgbClr val="333333"/>
                          </a:solidFill>
                          <a:latin typeface="Calibri"/>
                        </a:defRPr>
                      </a:pPr>
                      <a:r>
                        <a:t>ACR</a:t>
                      </a:r>
                    </a:p>
                  </a:txBody>
                  <a:tcPr/>
                </a:tc>
                <a:tc>
                  <a:txBody>
                    <a:bodyPr/>
                    <a:lstStyle/>
                    <a:p>
                      <a:pPr>
                        <a:defRPr sz="1300">
                          <a:solidFill>
                            <a:srgbClr val="333333"/>
                          </a:solidFill>
                          <a:latin typeface="Calibri"/>
                        </a:defRPr>
                      </a:pPr>
                      <a:r>
                        <a:t>~$5 (Basic)</a:t>
                      </a:r>
                    </a:p>
                  </a:txBody>
                  <a:tcPr/>
                </a:tc>
                <a:tc>
                  <a:txBody>
                    <a:bodyPr/>
                    <a:lstStyle/>
                    <a:p>
                      <a:pPr>
                        <a:defRPr sz="1300">
                          <a:solidFill>
                            <a:srgbClr val="333333"/>
                          </a:solidFill>
                          <a:latin typeface="Calibri"/>
                        </a:defRPr>
                      </a:pPr>
                      <a:r>
                        <a:t>~$20 (Standard)</a:t>
                      </a:r>
                    </a:p>
                  </a:txBody>
                  <a:tcPr/>
                </a:tc>
              </a:tr>
              <a:tr h="365760">
                <a:tc>
                  <a:txBody>
                    <a:bodyPr/>
                    <a:lstStyle/>
                    <a:p>
                      <a:pPr>
                        <a:defRPr sz="1300">
                          <a:solidFill>
                            <a:srgbClr val="333333"/>
                          </a:solidFill>
                          <a:latin typeface="Calibri"/>
                        </a:defRPr>
                      </a:pPr>
                      <a:r>
                        <a:t>Log Analytics</a:t>
                      </a:r>
                    </a:p>
                  </a:txBody>
                  <a:tcPr>
                    <a:solidFill>
                      <a:srgbClr val="F0F0F0"/>
                    </a:solidFill>
                  </a:tcPr>
                </a:tc>
                <a:tc>
                  <a:txBody>
                    <a:bodyPr/>
                    <a:lstStyle/>
                    <a:p>
                      <a:pPr>
                        <a:defRPr sz="1300">
                          <a:solidFill>
                            <a:srgbClr val="333333"/>
                          </a:solidFill>
                          <a:latin typeface="Calibri"/>
                        </a:defRPr>
                      </a:pPr>
                      <a:r>
                        <a:t>~$10</a:t>
                      </a:r>
                    </a:p>
                  </a:txBody>
                  <a:tcPr>
                    <a:solidFill>
                      <a:srgbClr val="F0F0F0"/>
                    </a:solidFill>
                  </a:tcPr>
                </a:tc>
                <a:tc>
                  <a:txBody>
                    <a:bodyPr/>
                    <a:lstStyle/>
                    <a:p>
                      <a:pPr>
                        <a:defRPr sz="1300">
                          <a:solidFill>
                            <a:srgbClr val="333333"/>
                          </a:solidFill>
                          <a:latin typeface="Calibri"/>
                        </a:defRPr>
                      </a:pPr>
                      <a:r>
                        <a:t>~$35</a:t>
                      </a:r>
                    </a:p>
                  </a:txBody>
                  <a:tcPr>
                    <a:solidFill>
                      <a:srgbClr val="F0F0F0"/>
                    </a:solidFill>
                  </a:tcPr>
                </a:tc>
              </a:tr>
              <a:tr h="365760">
                <a:tc>
                  <a:txBody>
                    <a:bodyPr/>
                    <a:lstStyle/>
                    <a:p>
                      <a:pPr>
                        <a:defRPr sz="1300">
                          <a:solidFill>
                            <a:srgbClr val="333333"/>
                          </a:solidFill>
                          <a:latin typeface="Calibri"/>
                        </a:defRPr>
                      </a:pPr>
                      <a:r>
                        <a:t>Storage</a:t>
                      </a:r>
                    </a:p>
                  </a:txBody>
                  <a:tcPr/>
                </a:tc>
                <a:tc>
                  <a:txBody>
                    <a:bodyPr/>
                    <a:lstStyle/>
                    <a:p>
                      <a:pPr>
                        <a:defRPr sz="1300">
                          <a:solidFill>
                            <a:srgbClr val="333333"/>
                          </a:solidFill>
                          <a:latin typeface="Calibri"/>
                        </a:defRPr>
                      </a:pPr>
                      <a:r>
                        <a:t>&lt;$1</a:t>
                      </a:r>
                    </a:p>
                  </a:txBody>
                  <a:tcPr/>
                </a:tc>
                <a:tc>
                  <a:txBody>
                    <a:bodyPr/>
                    <a:lstStyle/>
                    <a:p>
                      <a:pPr>
                        <a:defRPr sz="1300">
                          <a:solidFill>
                            <a:srgbClr val="333333"/>
                          </a:solidFill>
                          <a:latin typeface="Calibri"/>
                        </a:defRPr>
                      </a:pPr>
                      <a:r>
                        <a:t>&lt;$5</a:t>
                      </a:r>
                    </a:p>
                  </a:txBody>
                  <a:tcPr/>
                </a:tc>
              </a:tr>
              <a:tr h="365760">
                <a:tc>
                  <a:txBody>
                    <a:bodyPr/>
                    <a:lstStyle/>
                    <a:p>
                      <a:pPr>
                        <a:defRPr sz="1300">
                          <a:solidFill>
                            <a:srgbClr val="333333"/>
                          </a:solidFill>
                          <a:latin typeface="Calibri"/>
                        </a:defRPr>
                      </a:pPr>
                      <a:r>
                        <a:t>TOTAL</a:t>
                      </a:r>
                    </a:p>
                  </a:txBody>
                  <a:tcPr>
                    <a:solidFill>
                      <a:srgbClr val="F0F0F0"/>
                    </a:solidFill>
                  </a:tcPr>
                </a:tc>
                <a:tc>
                  <a:txBody>
                    <a:bodyPr/>
                    <a:lstStyle/>
                    <a:p>
                      <a:pPr>
                        <a:defRPr sz="1300">
                          <a:solidFill>
                            <a:srgbClr val="333333"/>
                          </a:solidFill>
                          <a:latin typeface="Calibri"/>
                        </a:defRPr>
                      </a:pPr>
                      <a:r>
                        <a:t>~$75/month</a:t>
                      </a:r>
                    </a:p>
                  </a:txBody>
                  <a:tcPr>
                    <a:solidFill>
                      <a:srgbClr val="F0F0F0"/>
                    </a:solidFill>
                  </a:tcPr>
                </a:tc>
                <a:tc>
                  <a:txBody>
                    <a:bodyPr/>
                    <a:lstStyle/>
                    <a:p>
                      <a:pPr>
                        <a:defRPr sz="1300">
                          <a:solidFill>
                            <a:srgbClr val="333333"/>
                          </a:solidFill>
                          <a:latin typeface="Calibri"/>
                        </a:defRPr>
                      </a:pPr>
                      <a:r>
                        <a:t>~$345/month</a:t>
                      </a:r>
                    </a:p>
                  </a:txBody>
                  <a:tcPr>
                    <a:solidFill>
                      <a:srgbClr val="F0F0F0"/>
                    </a:solidFill>
                  </a:tcPr>
                </a:tc>
              </a:tr>
            </a:tbl>
          </a:graphicData>
        </a:graphic>
      </p:graphicFrame>
      <p:sp>
        <p:nvSpPr>
          <p:cNvPr id="6" name="TextBox 5"/>
          <p:cNvSpPr txBox="1"/>
          <p:nvPr/>
        </p:nvSpPr>
        <p:spPr>
          <a:xfrm>
            <a:off x="1371600" y="4389120"/>
            <a:ext cx="9144000" cy="365760"/>
          </a:xfrm>
          <a:prstGeom prst="rect">
            <a:avLst/>
          </a:prstGeom>
          <a:noFill/>
        </p:spPr>
        <p:txBody>
          <a:bodyPr wrap="square">
            <a:spAutoFit/>
          </a:bodyPr>
          <a:lstStyle/>
          <a:p>
            <a:pPr algn="l">
              <a:spcAft>
                <a:spcPts val="400"/>
              </a:spcAft>
              <a:defRPr sz="1800" b="1" i="0">
                <a:solidFill>
                  <a:srgbClr val="1E3A5F"/>
                </a:solidFill>
                <a:latin typeface="Calibri"/>
              </a:defRPr>
            </a:pPr>
            <a:r>
              <a:t>Cost Optimisation Strategies:</a:t>
            </a:r>
          </a:p>
        </p:txBody>
      </p:sp>
      <p:sp>
        <p:nvSpPr>
          <p:cNvPr id="7" name="TextBox 6"/>
          <p:cNvSpPr txBox="1"/>
          <p:nvPr/>
        </p:nvSpPr>
        <p:spPr>
          <a:xfrm>
            <a:off x="1371600" y="4846320"/>
            <a:ext cx="9144000" cy="1828800"/>
          </a:xfrm>
          <a:prstGeom prst="rect">
            <a:avLst/>
          </a:prstGeom>
          <a:noFill/>
        </p:spPr>
        <p:txBody>
          <a:bodyPr wrap="square">
            <a:spAutoFit/>
          </a:bodyPr>
          <a:lstStyle/>
          <a:p>
            <a:pPr>
              <a:spcAft>
                <a:spcPts val="600"/>
              </a:spcAft>
              <a:defRPr sz="1500">
                <a:solidFill>
                  <a:srgbClr val="333333"/>
                </a:solidFill>
                <a:latin typeface="Calibri"/>
              </a:defRPr>
            </a:pPr>
            <a:r>
              <a:t>• Scheduled teardown — destroy non-prod environments overnight (~65% savings)</a:t>
            </a:r>
          </a:p>
          <a:p>
            <a:pPr>
              <a:spcAft>
                <a:spcPts val="600"/>
              </a:spcAft>
              <a:defRPr sz="1500">
                <a:solidFill>
                  <a:srgbClr val="333333"/>
                </a:solidFill>
                <a:latin typeface="Calibri"/>
              </a:defRPr>
            </a:pPr>
            <a:r>
              <a:t>• Spot instances — up to 90% discount for interruptible workloads</a:t>
            </a:r>
          </a:p>
          <a:p>
            <a:pPr>
              <a:spcAft>
                <a:spcPts val="600"/>
              </a:spcAft>
              <a:defRPr sz="1500">
                <a:solidFill>
                  <a:srgbClr val="333333"/>
                </a:solidFill>
                <a:latin typeface="Calibri"/>
              </a:defRPr>
            </a:pPr>
            <a:r>
              <a:t>• Reserved instances — 30–60% savings with 1–3 year commitment</a:t>
            </a:r>
          </a:p>
          <a:p>
            <a:pPr>
              <a:spcAft>
                <a:spcPts val="600"/>
              </a:spcAft>
              <a:defRPr sz="1500">
                <a:solidFill>
                  <a:srgbClr val="333333"/>
                </a:solidFill>
                <a:latin typeface="Calibri"/>
              </a:defRPr>
            </a:pPr>
            <a:r>
              <a:t>• Autoscaler tuning — minimum 1 node during quiet periods</a:t>
            </a:r>
          </a:p>
          <a:p>
            <a:pPr>
              <a:spcAft>
                <a:spcPts val="600"/>
              </a:spcAft>
              <a:defRPr sz="1500">
                <a:solidFill>
                  <a:srgbClr val="333333"/>
                </a:solidFill>
                <a:latin typeface="Calibri"/>
              </a:defRPr>
            </a:pPr>
            <a:r>
              <a:t>• Alternative: Azure Container Apps (consumption) → ~$10–20/month for low-traffic apps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Vulnerability Scanning &amp; Sustainability</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303520" cy="365760"/>
          </a:xfrm>
          <a:prstGeom prst="rect">
            <a:avLst/>
          </a:prstGeom>
          <a:noFill/>
        </p:spPr>
        <p:txBody>
          <a:bodyPr wrap="square">
            <a:spAutoFit/>
          </a:bodyPr>
          <a:lstStyle/>
          <a:p>
            <a:pPr algn="l">
              <a:spcAft>
                <a:spcPts val="400"/>
              </a:spcAft>
              <a:defRPr sz="2000" b="1" i="0">
                <a:solidFill>
                  <a:srgbClr val="1E3A5F"/>
                </a:solidFill>
                <a:latin typeface="Calibri"/>
              </a:defRPr>
            </a:pPr>
            <a:r>
              <a:t>Vulnerability Scanning (Trivy)</a:t>
            </a:r>
          </a:p>
        </p:txBody>
      </p:sp>
      <p:graphicFrame>
        <p:nvGraphicFramePr>
          <p:cNvPr id="6" name="Table 5"/>
          <p:cNvGraphicFramePr>
            <a:graphicFrameLocks noGrp="1"/>
          </p:cNvGraphicFramePr>
          <p:nvPr/>
        </p:nvGraphicFramePr>
        <p:xfrm>
          <a:off x="548640" y="1920240"/>
          <a:ext cx="5303520" cy="2194560"/>
        </p:xfrm>
        <a:graphic>
          <a:graphicData uri="http://schemas.openxmlformats.org/drawingml/2006/table">
            <a:tbl>
              <a:tblPr firstRow="1" bandRow="1">
                <a:tableStyleId>{5C22544A-7EE6-4342-B048-85BDC9FD1C3A}</a:tableStyleId>
              </a:tblPr>
              <a:tblGrid>
                <a:gridCol w="1325880"/>
                <a:gridCol w="1325880"/>
                <a:gridCol w="1325880"/>
                <a:gridCol w="1325880"/>
              </a:tblGrid>
              <a:tr h="365760">
                <a:tc>
                  <a:txBody>
                    <a:bodyPr/>
                    <a:lstStyle/>
                    <a:p>
                      <a:pPr>
                        <a:defRPr sz="1100" b="1">
                          <a:solidFill>
                            <a:srgbClr val="FFFFFF"/>
                          </a:solidFill>
                          <a:latin typeface="Calibri"/>
                        </a:defRPr>
                      </a:pPr>
                      <a:r>
                        <a:t>Feature</a:t>
                      </a:r>
                    </a:p>
                  </a:txBody>
                  <a:tcPr>
                    <a:solidFill>
                      <a:srgbClr val="1E3A5F"/>
                    </a:solidFill>
                  </a:tcPr>
                </a:tc>
                <a:tc>
                  <a:txBody>
                    <a:bodyPr/>
                    <a:lstStyle/>
                    <a:p>
                      <a:pPr>
                        <a:defRPr sz="1100" b="1">
                          <a:solidFill>
                            <a:srgbClr val="FFFFFF"/>
                          </a:solidFill>
                          <a:latin typeface="Calibri"/>
                        </a:defRPr>
                      </a:pPr>
                      <a:r>
                        <a:t>Trivy</a:t>
                      </a:r>
                    </a:p>
                  </a:txBody>
                  <a:tcPr>
                    <a:solidFill>
                      <a:srgbClr val="1E3A5F"/>
                    </a:solidFill>
                  </a:tcPr>
                </a:tc>
                <a:tc>
                  <a:txBody>
                    <a:bodyPr/>
                    <a:lstStyle/>
                    <a:p>
                      <a:pPr>
                        <a:defRPr sz="1100" b="1">
                          <a:solidFill>
                            <a:srgbClr val="FFFFFF"/>
                          </a:solidFill>
                          <a:latin typeface="Calibri"/>
                        </a:defRPr>
                      </a:pPr>
                      <a:r>
                        <a:t>Docker Scout</a:t>
                      </a:r>
                    </a:p>
                  </a:txBody>
                  <a:tcPr>
                    <a:solidFill>
                      <a:srgbClr val="1E3A5F"/>
                    </a:solidFill>
                  </a:tcPr>
                </a:tc>
                <a:tc>
                  <a:txBody>
                    <a:bodyPr/>
                    <a:lstStyle/>
                    <a:p>
                      <a:pPr>
                        <a:defRPr sz="1100" b="1">
                          <a:solidFill>
                            <a:srgbClr val="FFFFFF"/>
                          </a:solidFill>
                          <a:latin typeface="Calibri"/>
                        </a:defRPr>
                      </a:pPr>
                      <a:r>
                        <a:t>Snyk</a:t>
                      </a:r>
                    </a:p>
                  </a:txBody>
                  <a:tcPr>
                    <a:solidFill>
                      <a:srgbClr val="1E3A5F"/>
                    </a:solidFill>
                  </a:tcPr>
                </a:tc>
              </a:tr>
              <a:tr h="365760">
                <a:tc>
                  <a:txBody>
                    <a:bodyPr/>
                    <a:lstStyle/>
                    <a:p>
                      <a:pPr>
                        <a:defRPr sz="1100">
                          <a:solidFill>
                            <a:srgbClr val="333333"/>
                          </a:solidFill>
                          <a:latin typeface="Calibri"/>
                        </a:defRPr>
                      </a:pPr>
                      <a:r>
                        <a:t>Cost</a:t>
                      </a:r>
                    </a:p>
                  </a:txBody>
                  <a:tcPr/>
                </a:tc>
                <a:tc>
                  <a:txBody>
                    <a:bodyPr/>
                    <a:lstStyle/>
                    <a:p>
                      <a:pPr>
                        <a:defRPr sz="1100">
                          <a:solidFill>
                            <a:srgbClr val="333333"/>
                          </a:solidFill>
                          <a:latin typeface="Calibri"/>
                        </a:defRPr>
                      </a:pPr>
                      <a:r>
                        <a:t>Free (Apache 2.0)</a:t>
                      </a:r>
                    </a:p>
                  </a:txBody>
                  <a:tcPr/>
                </a:tc>
                <a:tc>
                  <a:txBody>
                    <a:bodyPr/>
                    <a:lstStyle/>
                    <a:p>
                      <a:pPr>
                        <a:defRPr sz="1100">
                          <a:solidFill>
                            <a:srgbClr val="333333"/>
                          </a:solidFill>
                          <a:latin typeface="Calibri"/>
                        </a:defRPr>
                      </a:pPr>
                      <a:r>
                        <a:t>Free (limited)</a:t>
                      </a:r>
                    </a:p>
                  </a:txBody>
                  <a:tcPr/>
                </a:tc>
                <a:tc>
                  <a:txBody>
                    <a:bodyPr/>
                    <a:lstStyle/>
                    <a:p>
                      <a:pPr>
                        <a:defRPr sz="1100">
                          <a:solidFill>
                            <a:srgbClr val="333333"/>
                          </a:solidFill>
                          <a:latin typeface="Calibri"/>
                        </a:defRPr>
                      </a:pPr>
                      <a:r>
                        <a:t>Free (limited)</a:t>
                      </a:r>
                    </a:p>
                  </a:txBody>
                  <a:tcPr/>
                </a:tc>
              </a:tr>
              <a:tr h="365760">
                <a:tc>
                  <a:txBody>
                    <a:bodyPr/>
                    <a:lstStyle/>
                    <a:p>
                      <a:pPr>
                        <a:defRPr sz="1100">
                          <a:solidFill>
                            <a:srgbClr val="333333"/>
                          </a:solidFill>
                          <a:latin typeface="Calibri"/>
                        </a:defRPr>
                      </a:pPr>
                      <a:r>
                        <a:t>OS packages</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r>
              <a:tr h="365760">
                <a:tc>
                  <a:txBody>
                    <a:bodyPr/>
                    <a:lstStyle/>
                    <a:p>
                      <a:pPr>
                        <a:defRPr sz="1100">
                          <a:solidFill>
                            <a:srgbClr val="333333"/>
                          </a:solidFill>
                          <a:latin typeface="Calibri"/>
                        </a:defRPr>
                      </a:pPr>
                      <a:r>
                        <a:t>Language deps</a:t>
                      </a:r>
                    </a:p>
                  </a:txBody>
                  <a:tcPr/>
                </a:tc>
                <a:tc>
                  <a:txBody>
                    <a:bodyPr/>
                    <a:lstStyle/>
                    <a:p>
                      <a:pPr>
                        <a:defRPr sz="1100">
                          <a:solidFill>
                            <a:srgbClr val="333333"/>
                          </a:solidFill>
                          <a:latin typeface="Calibri"/>
                        </a:defRPr>
                      </a:pPr>
                      <a:r>
                        <a:t>✓</a:t>
                      </a:r>
                    </a:p>
                  </a:txBody>
                  <a:tcPr/>
                </a:tc>
                <a:tc>
                  <a:txBody>
                    <a:bodyPr/>
                    <a:lstStyle/>
                    <a:p>
                      <a:pPr>
                        <a:defRPr sz="1100">
                          <a:solidFill>
                            <a:srgbClr val="333333"/>
                          </a:solidFill>
                          <a:latin typeface="Calibri"/>
                        </a:defRPr>
                      </a:pPr>
                      <a:r>
                        <a:t>✓</a:t>
                      </a:r>
                    </a:p>
                  </a:txBody>
                  <a:tcPr/>
                </a:tc>
                <a:tc>
                  <a:txBody>
                    <a:bodyPr/>
                    <a:lstStyle/>
                    <a:p>
                      <a:pPr>
                        <a:defRPr sz="1100">
                          <a:solidFill>
                            <a:srgbClr val="333333"/>
                          </a:solidFill>
                          <a:latin typeface="Calibri"/>
                        </a:defRPr>
                      </a:pPr>
                      <a:r>
                        <a:t>✓</a:t>
                      </a:r>
                    </a:p>
                  </a:txBody>
                  <a:tcPr/>
                </a:tc>
              </a:tr>
              <a:tr h="365760">
                <a:tc>
                  <a:txBody>
                    <a:bodyPr/>
                    <a:lstStyle/>
                    <a:p>
                      <a:pPr>
                        <a:defRPr sz="1100">
                          <a:solidFill>
                            <a:srgbClr val="333333"/>
                          </a:solidFill>
                          <a:latin typeface="Calibri"/>
                        </a:defRPr>
                      </a:pPr>
                      <a:r>
                        <a:t>IaC scanning</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c>
                  <a:txBody>
                    <a:bodyPr/>
                    <a:lstStyle/>
                    <a:p>
                      <a:pPr>
                        <a:defRPr sz="1100">
                          <a:solidFill>
                            <a:srgbClr val="333333"/>
                          </a:solidFill>
                          <a:latin typeface="Calibri"/>
                        </a:defRPr>
                      </a:pPr>
                      <a:r>
                        <a:t>✓</a:t>
                      </a:r>
                    </a:p>
                  </a:txBody>
                  <a:tcPr>
                    <a:solidFill>
                      <a:srgbClr val="F0F0F0"/>
                    </a:solidFill>
                  </a:tcPr>
                </a:tc>
              </a:tr>
              <a:tr h="365760">
                <a:tc>
                  <a:txBody>
                    <a:bodyPr/>
                    <a:lstStyle/>
                    <a:p>
                      <a:pPr>
                        <a:defRPr sz="1100">
                          <a:solidFill>
                            <a:srgbClr val="333333"/>
                          </a:solidFill>
                          <a:latin typeface="Calibri"/>
                        </a:defRPr>
                      </a:pPr>
                      <a:r>
                        <a:t>License scan</a:t>
                      </a:r>
                    </a:p>
                  </a:txBody>
                  <a:tcPr/>
                </a:tc>
                <a:tc>
                  <a:txBody>
                    <a:bodyPr/>
                    <a:lstStyle/>
                    <a:p>
                      <a:pPr>
                        <a:defRPr sz="1100">
                          <a:solidFill>
                            <a:srgbClr val="333333"/>
                          </a:solidFill>
                          <a:latin typeface="Calibri"/>
                        </a:defRPr>
                      </a:pPr>
                      <a:r>
                        <a:t>✓</a:t>
                      </a:r>
                    </a:p>
                  </a:txBody>
                  <a:tcPr/>
                </a:tc>
                <a:tc>
                  <a:txBody>
                    <a:bodyPr/>
                    <a:lstStyle/>
                    <a:p>
                      <a:pPr>
                        <a:defRPr sz="1100">
                          <a:solidFill>
                            <a:srgbClr val="333333"/>
                          </a:solidFill>
                          <a:latin typeface="Calibri"/>
                        </a:defRPr>
                      </a:pPr>
                      <a:r>
                        <a:t>✗</a:t>
                      </a:r>
                    </a:p>
                  </a:txBody>
                  <a:tcPr/>
                </a:tc>
                <a:tc>
                  <a:txBody>
                    <a:bodyPr/>
                    <a:lstStyle/>
                    <a:p>
                      <a:pPr>
                        <a:defRPr sz="1100">
                          <a:solidFill>
                            <a:srgbClr val="333333"/>
                          </a:solidFill>
                          <a:latin typeface="Calibri"/>
                        </a:defRPr>
                      </a:pPr>
                      <a:r>
                        <a:t>✓</a:t>
                      </a:r>
                    </a:p>
                  </a:txBody>
                  <a:tcPr/>
                </a:tc>
              </a:tr>
            </a:tbl>
          </a:graphicData>
        </a:graphic>
      </p:graphicFrame>
      <p:sp>
        <p:nvSpPr>
          <p:cNvPr id="7" name="TextBox 6"/>
          <p:cNvSpPr txBox="1"/>
          <p:nvPr/>
        </p:nvSpPr>
        <p:spPr>
          <a:xfrm>
            <a:off x="548640" y="4114800"/>
            <a:ext cx="5303520" cy="1371600"/>
          </a:xfrm>
          <a:prstGeom prst="rect">
            <a:avLst/>
          </a:prstGeom>
          <a:noFill/>
        </p:spPr>
        <p:txBody>
          <a:bodyPr wrap="square">
            <a:spAutoFit/>
          </a:bodyPr>
          <a:lstStyle/>
          <a:p>
            <a:pPr>
              <a:spcAft>
                <a:spcPts val="600"/>
              </a:spcAft>
              <a:defRPr sz="1400">
                <a:solidFill>
                  <a:srgbClr val="333333"/>
                </a:solidFill>
                <a:latin typeface="Calibri"/>
              </a:defRPr>
            </a:pPr>
            <a:r>
              <a:t>• CRITICAL → build fails</a:t>
            </a:r>
          </a:p>
          <a:p>
            <a:pPr>
              <a:spcAft>
                <a:spcPts val="600"/>
              </a:spcAft>
              <a:defRPr sz="1400">
                <a:solidFill>
                  <a:srgbClr val="333333"/>
                </a:solidFill>
                <a:latin typeface="Calibri"/>
              </a:defRPr>
            </a:pPr>
            <a:r>
              <a:t>• HIGH → warning logged</a:t>
            </a:r>
          </a:p>
          <a:p>
            <a:pPr>
              <a:spcAft>
                <a:spcPts val="600"/>
              </a:spcAft>
              <a:defRPr sz="1400">
                <a:solidFill>
                  <a:srgbClr val="333333"/>
                </a:solidFill>
                <a:latin typeface="Calibri"/>
              </a:defRPr>
            </a:pPr>
            <a:r>
              <a:t>• MEDIUM/LOW → informational</a:t>
            </a:r>
          </a:p>
          <a:p>
            <a:pPr>
              <a:spcAft>
                <a:spcPts val="600"/>
              </a:spcAft>
              <a:defRPr sz="1400">
                <a:solidFill>
                  <a:srgbClr val="333333"/>
                </a:solidFill>
                <a:latin typeface="Calibri"/>
              </a:defRPr>
            </a:pPr>
            <a:r>
              <a:t>• Critique: Build-time only; ACR Defender for continuous</a:t>
            </a:r>
          </a:p>
        </p:txBody>
      </p:sp>
      <p:sp>
        <p:nvSpPr>
          <p:cNvPr id="8" name="TextBox 7"/>
          <p:cNvSpPr txBox="1"/>
          <p:nvPr/>
        </p:nvSpPr>
        <p:spPr>
          <a:xfrm>
            <a:off x="6400800" y="1371600"/>
            <a:ext cx="5029200" cy="365760"/>
          </a:xfrm>
          <a:prstGeom prst="rect">
            <a:avLst/>
          </a:prstGeom>
          <a:noFill/>
        </p:spPr>
        <p:txBody>
          <a:bodyPr wrap="square">
            <a:spAutoFit/>
          </a:bodyPr>
          <a:lstStyle/>
          <a:p>
            <a:pPr algn="l">
              <a:spcAft>
                <a:spcPts val="400"/>
              </a:spcAft>
              <a:defRPr sz="2000" b="1" i="0">
                <a:solidFill>
                  <a:srgbClr val="1E3A5F"/>
                </a:solidFill>
                <a:latin typeface="Calibri"/>
              </a:defRPr>
            </a:pPr>
            <a:r>
              <a:t>Sustainability</a:t>
            </a:r>
          </a:p>
        </p:txBody>
      </p:sp>
      <p:graphicFrame>
        <p:nvGraphicFramePr>
          <p:cNvPr id="9" name="Table 8"/>
          <p:cNvGraphicFramePr>
            <a:graphicFrameLocks noGrp="1"/>
          </p:cNvGraphicFramePr>
          <p:nvPr/>
        </p:nvGraphicFramePr>
        <p:xfrm>
          <a:off x="6400800" y="1920240"/>
          <a:ext cx="5029200" cy="2194560"/>
        </p:xfrm>
        <a:graphic>
          <a:graphicData uri="http://schemas.openxmlformats.org/drawingml/2006/table">
            <a:tbl>
              <a:tblPr firstRow="1" bandRow="1">
                <a:tableStyleId>{5C22544A-7EE6-4342-B048-85BDC9FD1C3A}</a:tableStyleId>
              </a:tblPr>
              <a:tblGrid>
                <a:gridCol w="2514600"/>
                <a:gridCol w="2514600"/>
              </a:tblGrid>
              <a:tr h="365760">
                <a:tc>
                  <a:txBody>
                    <a:bodyPr/>
                    <a:lstStyle/>
                    <a:p>
                      <a:pPr>
                        <a:defRPr sz="1100" b="1">
                          <a:solidFill>
                            <a:srgbClr val="FFFFFF"/>
                          </a:solidFill>
                          <a:latin typeface="Calibri"/>
                        </a:defRPr>
                      </a:pPr>
                      <a:r>
                        <a:t>Measure</a:t>
                      </a:r>
                    </a:p>
                  </a:txBody>
                  <a:tcPr>
                    <a:solidFill>
                      <a:srgbClr val="1E3A5F"/>
                    </a:solidFill>
                  </a:tcPr>
                </a:tc>
                <a:tc>
                  <a:txBody>
                    <a:bodyPr/>
                    <a:lstStyle/>
                    <a:p>
                      <a:pPr>
                        <a:defRPr sz="1100" b="1">
                          <a:solidFill>
                            <a:srgbClr val="FFFFFF"/>
                          </a:solidFill>
                          <a:latin typeface="Calibri"/>
                        </a:defRPr>
                      </a:pPr>
                      <a:r>
                        <a:t>Impact</a:t>
                      </a:r>
                    </a:p>
                  </a:txBody>
                  <a:tcPr>
                    <a:solidFill>
                      <a:srgbClr val="1E3A5F"/>
                    </a:solidFill>
                  </a:tcPr>
                </a:tc>
              </a:tr>
              <a:tr h="365760">
                <a:tc>
                  <a:txBody>
                    <a:bodyPr/>
                    <a:lstStyle/>
                    <a:p>
                      <a:pPr>
                        <a:defRPr sz="1100">
                          <a:solidFill>
                            <a:srgbClr val="333333"/>
                          </a:solidFill>
                          <a:latin typeface="Calibri"/>
                        </a:defRPr>
                      </a:pPr>
                      <a:r>
                        <a:t>B-series burstable VMs</a:t>
                      </a:r>
                    </a:p>
                  </a:txBody>
                  <a:tcPr/>
                </a:tc>
                <a:tc>
                  <a:txBody>
                    <a:bodyPr/>
                    <a:lstStyle/>
                    <a:p>
                      <a:pPr>
                        <a:defRPr sz="1100">
                          <a:solidFill>
                            <a:srgbClr val="333333"/>
                          </a:solidFill>
                          <a:latin typeface="Calibri"/>
                        </a:defRPr>
                      </a:pPr>
                      <a:r>
                        <a:t>Lower baseline energy</a:t>
                      </a:r>
                    </a:p>
                  </a:txBody>
                  <a:tcPr/>
                </a:tc>
              </a:tr>
              <a:tr h="365760">
                <a:tc>
                  <a:txBody>
                    <a:bodyPr/>
                    <a:lstStyle/>
                    <a:p>
                      <a:pPr>
                        <a:defRPr sz="1100">
                          <a:solidFill>
                            <a:srgbClr val="333333"/>
                          </a:solidFill>
                          <a:latin typeface="Calibri"/>
                        </a:defRPr>
                      </a:pPr>
                      <a:r>
                        <a:t>HPA + cluster autoscaler</a:t>
                      </a:r>
                    </a:p>
                  </a:txBody>
                  <a:tcPr>
                    <a:solidFill>
                      <a:srgbClr val="F0F0F0"/>
                    </a:solidFill>
                  </a:tcPr>
                </a:tc>
                <a:tc>
                  <a:txBody>
                    <a:bodyPr/>
                    <a:lstStyle/>
                    <a:p>
                      <a:pPr>
                        <a:defRPr sz="1100">
                          <a:solidFill>
                            <a:srgbClr val="333333"/>
                          </a:solidFill>
                          <a:latin typeface="Calibri"/>
                        </a:defRPr>
                      </a:pPr>
                      <a:r>
                        <a:t>Resources when needed only</a:t>
                      </a:r>
                    </a:p>
                  </a:txBody>
                  <a:tcPr>
                    <a:solidFill>
                      <a:srgbClr val="F0F0F0"/>
                    </a:solidFill>
                  </a:tcPr>
                </a:tc>
              </a:tr>
              <a:tr h="365760">
                <a:tc>
                  <a:txBody>
                    <a:bodyPr/>
                    <a:lstStyle/>
                    <a:p>
                      <a:pPr>
                        <a:defRPr sz="1100">
                          <a:solidFill>
                            <a:srgbClr val="333333"/>
                          </a:solidFill>
                          <a:latin typeface="Calibri"/>
                        </a:defRPr>
                      </a:pPr>
                      <a:r>
                        <a:t>Environment teardown</a:t>
                      </a:r>
                    </a:p>
                  </a:txBody>
                  <a:tcPr/>
                </a:tc>
                <a:tc>
                  <a:txBody>
                    <a:bodyPr/>
                    <a:lstStyle/>
                    <a:p>
                      <a:pPr>
                        <a:defRPr sz="1100">
                          <a:solidFill>
                            <a:srgbClr val="333333"/>
                          </a:solidFill>
                          <a:latin typeface="Calibri"/>
                        </a:defRPr>
                      </a:pPr>
                      <a:r>
                        <a:t>~65% compute savings</a:t>
                      </a:r>
                    </a:p>
                  </a:txBody>
                  <a:tcPr/>
                </a:tc>
              </a:tr>
              <a:tr h="365760">
                <a:tc>
                  <a:txBody>
                    <a:bodyPr/>
                    <a:lstStyle/>
                    <a:p>
                      <a:pPr>
                        <a:defRPr sz="1100">
                          <a:solidFill>
                            <a:srgbClr val="333333"/>
                          </a:solidFill>
                          <a:latin typeface="Calibri"/>
                        </a:defRPr>
                      </a:pPr>
                      <a:r>
                        <a:t>Alpine-based images</a:t>
                      </a:r>
                    </a:p>
                  </a:txBody>
                  <a:tcPr>
                    <a:solidFill>
                      <a:srgbClr val="F0F0F0"/>
                    </a:solidFill>
                  </a:tcPr>
                </a:tc>
                <a:tc>
                  <a:txBody>
                    <a:bodyPr/>
                    <a:lstStyle/>
                    <a:p>
                      <a:pPr>
                        <a:defRPr sz="1100">
                          <a:solidFill>
                            <a:srgbClr val="333333"/>
                          </a:solidFill>
                          <a:latin typeface="Calibri"/>
                        </a:defRPr>
                      </a:pPr>
                      <a:r>
                        <a:t>Less storage &amp; transfer</a:t>
                      </a:r>
                    </a:p>
                  </a:txBody>
                  <a:tcPr>
                    <a:solidFill>
                      <a:srgbClr val="F0F0F0"/>
                    </a:solidFill>
                  </a:tcPr>
                </a:tc>
              </a:tr>
              <a:tr h="365760">
                <a:tc>
                  <a:txBody>
                    <a:bodyPr/>
                    <a:lstStyle/>
                    <a:p>
                      <a:pPr>
                        <a:defRPr sz="1100">
                          <a:solidFill>
                            <a:srgbClr val="333333"/>
                          </a:solidFill>
                          <a:latin typeface="Calibri"/>
                        </a:defRPr>
                      </a:pPr>
                      <a:r>
                        <a:t>Renewable-energy regions</a:t>
                      </a:r>
                    </a:p>
                  </a:txBody>
                  <a:tcPr/>
                </a:tc>
                <a:tc>
                  <a:txBody>
                    <a:bodyPr/>
                    <a:lstStyle/>
                    <a:p>
                      <a:pPr>
                        <a:defRPr sz="1100">
                          <a:solidFill>
                            <a:srgbClr val="333333"/>
                          </a:solidFill>
                          <a:latin typeface="Calibri"/>
                        </a:defRPr>
                      </a:pPr>
                      <a:r>
                        <a:t>Lower carbon footprint</a:t>
                      </a:r>
                    </a:p>
                  </a:txBody>
                  <a:tcPr/>
                </a:tc>
              </a:tr>
            </a:tbl>
          </a:graphicData>
        </a:graphic>
      </p:graphicFrame>
      <p:sp>
        <p:nvSpPr>
          <p:cNvPr id="10" name="TextBox 9"/>
          <p:cNvSpPr txBox="1"/>
          <p:nvPr/>
        </p:nvSpPr>
        <p:spPr>
          <a:xfrm>
            <a:off x="6400800" y="4389120"/>
            <a:ext cx="5029200" cy="1097280"/>
          </a:xfrm>
          <a:prstGeom prst="rect">
            <a:avLst/>
          </a:prstGeom>
          <a:noFill/>
        </p:spPr>
        <p:txBody>
          <a:bodyPr wrap="square">
            <a:spAutoFit/>
          </a:bodyPr>
          <a:lstStyle/>
          <a:p>
            <a:pPr algn="l">
              <a:spcAft>
                <a:spcPts val="400"/>
              </a:spcAft>
              <a:defRPr sz="1300" b="0" i="1">
                <a:solidFill>
                  <a:srgbClr val="884400"/>
                </a:solidFill>
                <a:latin typeface="Calibri"/>
              </a:defRPr>
            </a:pPr>
            <a:r>
              <a:t>Critique: Most impactful measure is automated teardown. Serverless (Azure Functions + Cosmos DB) would eliminate baseline consumption entirely.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Rollback Plan &amp; Change Management</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365760"/>
          </a:xfrm>
          <a:prstGeom prst="rect">
            <a:avLst/>
          </a:prstGeom>
          <a:noFill/>
        </p:spPr>
        <p:txBody>
          <a:bodyPr wrap="square">
            <a:spAutoFit/>
          </a:bodyPr>
          <a:lstStyle/>
          <a:p>
            <a:pPr algn="l">
              <a:spcAft>
                <a:spcPts val="400"/>
              </a:spcAft>
              <a:defRPr sz="2000" b="1" i="0">
                <a:solidFill>
                  <a:srgbClr val="1E3A5F"/>
                </a:solidFill>
                <a:latin typeface="Calibri"/>
              </a:defRPr>
            </a:pPr>
            <a:r>
              <a:t>Four-Tier Rollback Strategy</a:t>
            </a:r>
          </a:p>
        </p:txBody>
      </p:sp>
      <p:graphicFrame>
        <p:nvGraphicFramePr>
          <p:cNvPr id="6" name="Table 5"/>
          <p:cNvGraphicFramePr>
            <a:graphicFrameLocks noGrp="1"/>
          </p:cNvGraphicFramePr>
          <p:nvPr/>
        </p:nvGraphicFramePr>
        <p:xfrm>
          <a:off x="548640" y="1920240"/>
          <a:ext cx="10972800" cy="1828800"/>
        </p:xfrm>
        <a:graphic>
          <a:graphicData uri="http://schemas.openxmlformats.org/drawingml/2006/table">
            <a:tbl>
              <a:tblPr firstRow="1" bandRow="1">
                <a:tableStyleId>{5C22544A-7EE6-4342-B048-85BDC9FD1C3A}</a:tableStyleId>
              </a:tblPr>
              <a:tblGrid>
                <a:gridCol w="2743200"/>
                <a:gridCol w="2743200"/>
                <a:gridCol w="2743200"/>
                <a:gridCol w="2743200"/>
              </a:tblGrid>
              <a:tr h="365760">
                <a:tc>
                  <a:txBody>
                    <a:bodyPr/>
                    <a:lstStyle/>
                    <a:p>
                      <a:pPr>
                        <a:defRPr sz="1200" b="1">
                          <a:solidFill>
                            <a:srgbClr val="FFFFFF"/>
                          </a:solidFill>
                          <a:latin typeface="Calibri"/>
                        </a:defRPr>
                      </a:pPr>
                      <a:r>
                        <a:t>Tier</a:t>
                      </a:r>
                    </a:p>
                  </a:txBody>
                  <a:tcPr>
                    <a:solidFill>
                      <a:srgbClr val="1E3A5F"/>
                    </a:solidFill>
                  </a:tcPr>
                </a:tc>
                <a:tc>
                  <a:txBody>
                    <a:bodyPr/>
                    <a:lstStyle/>
                    <a:p>
                      <a:pPr>
                        <a:defRPr sz="1200" b="1">
                          <a:solidFill>
                            <a:srgbClr val="FFFFFF"/>
                          </a:solidFill>
                          <a:latin typeface="Calibri"/>
                        </a:defRPr>
                      </a:pPr>
                      <a:r>
                        <a:t>Mechanism</a:t>
                      </a:r>
                    </a:p>
                  </a:txBody>
                  <a:tcPr>
                    <a:solidFill>
                      <a:srgbClr val="1E3A5F"/>
                    </a:solidFill>
                  </a:tcPr>
                </a:tc>
                <a:tc>
                  <a:txBody>
                    <a:bodyPr/>
                    <a:lstStyle/>
                    <a:p>
                      <a:pPr>
                        <a:defRPr sz="1200" b="1">
                          <a:solidFill>
                            <a:srgbClr val="FFFFFF"/>
                          </a:solidFill>
                          <a:latin typeface="Calibri"/>
                        </a:defRPr>
                      </a:pPr>
                      <a:r>
                        <a:t>Recovery Time</a:t>
                      </a:r>
                    </a:p>
                  </a:txBody>
                  <a:tcPr>
                    <a:solidFill>
                      <a:srgbClr val="1E3A5F"/>
                    </a:solidFill>
                  </a:tcPr>
                </a:tc>
                <a:tc>
                  <a:txBody>
                    <a:bodyPr/>
                    <a:lstStyle/>
                    <a:p>
                      <a:pPr>
                        <a:defRPr sz="1200" b="1">
                          <a:solidFill>
                            <a:srgbClr val="FFFFFF"/>
                          </a:solidFill>
                          <a:latin typeface="Calibri"/>
                        </a:defRPr>
                      </a:pPr>
                      <a:r>
                        <a:t>When to Use</a:t>
                      </a:r>
                    </a:p>
                  </a:txBody>
                  <a:tcPr>
                    <a:solidFill>
                      <a:srgbClr val="1E3A5F"/>
                    </a:solidFill>
                  </a:tcPr>
                </a:tc>
              </a:tr>
              <a:tr h="365760">
                <a:tc>
                  <a:txBody>
                    <a:bodyPr/>
                    <a:lstStyle/>
                    <a:p>
                      <a:pPr>
                        <a:defRPr sz="1200">
                          <a:solidFill>
                            <a:srgbClr val="333333"/>
                          </a:solidFill>
                          <a:latin typeface="Calibri"/>
                        </a:defRPr>
                      </a:pPr>
                      <a:r>
                        <a:t>1</a:t>
                      </a:r>
                    </a:p>
                  </a:txBody>
                  <a:tcPr/>
                </a:tc>
                <a:tc>
                  <a:txBody>
                    <a:bodyPr/>
                    <a:lstStyle/>
                    <a:p>
                      <a:pPr>
                        <a:defRPr sz="1200">
                          <a:solidFill>
                            <a:srgbClr val="333333"/>
                          </a:solidFill>
                          <a:latin typeface="Calibri"/>
                        </a:defRPr>
                      </a:pPr>
                      <a:r>
                        <a:t>Slot switch (kubectl patch)</a:t>
                      </a:r>
                    </a:p>
                  </a:txBody>
                  <a:tcPr/>
                </a:tc>
                <a:tc>
                  <a:txBody>
                    <a:bodyPr/>
                    <a:lstStyle/>
                    <a:p>
                      <a:pPr>
                        <a:defRPr sz="1200">
                          <a:solidFill>
                            <a:srgbClr val="333333"/>
                          </a:solidFill>
                          <a:latin typeface="Calibri"/>
                        </a:defRPr>
                      </a:pPr>
                      <a:r>
                        <a:t>&lt;10 seconds</a:t>
                      </a:r>
                    </a:p>
                  </a:txBody>
                  <a:tcPr/>
                </a:tc>
                <a:tc>
                  <a:txBody>
                    <a:bodyPr/>
                    <a:lstStyle/>
                    <a:p>
                      <a:pPr>
                        <a:defRPr sz="1200">
                          <a:solidFill>
                            <a:srgbClr val="333333"/>
                          </a:solidFill>
                          <a:latin typeface="Calibri"/>
                        </a:defRPr>
                      </a:pPr>
                      <a:r>
                        <a:t>Application bug post-deployment</a:t>
                      </a:r>
                    </a:p>
                  </a:txBody>
                  <a:tcPr/>
                </a:tc>
              </a:tr>
              <a:tr h="365760">
                <a:tc>
                  <a:txBody>
                    <a:bodyPr/>
                    <a:lstStyle/>
                    <a:p>
                      <a:pPr>
                        <a:defRPr sz="1200">
                          <a:solidFill>
                            <a:srgbClr val="333333"/>
                          </a:solidFill>
                          <a:latin typeface="Calibri"/>
                        </a:defRPr>
                      </a:pPr>
                      <a:r>
                        <a:t>2</a:t>
                      </a:r>
                    </a:p>
                  </a:txBody>
                  <a:tcPr>
                    <a:solidFill>
                      <a:srgbClr val="F0F0F0"/>
                    </a:solidFill>
                  </a:tcPr>
                </a:tc>
                <a:tc>
                  <a:txBody>
                    <a:bodyPr/>
                    <a:lstStyle/>
                    <a:p>
                      <a:pPr>
                        <a:defRPr sz="1200">
                          <a:solidFill>
                            <a:srgbClr val="333333"/>
                          </a:solidFill>
                          <a:latin typeface="Calibri"/>
                        </a:defRPr>
                      </a:pPr>
                      <a:r>
                        <a:t>Helm rollback</a:t>
                      </a:r>
                    </a:p>
                  </a:txBody>
                  <a:tcPr>
                    <a:solidFill>
                      <a:srgbClr val="F0F0F0"/>
                    </a:solidFill>
                  </a:tcPr>
                </a:tc>
                <a:tc>
                  <a:txBody>
                    <a:bodyPr/>
                    <a:lstStyle/>
                    <a:p>
                      <a:pPr>
                        <a:defRPr sz="1200">
                          <a:solidFill>
                            <a:srgbClr val="333333"/>
                          </a:solidFill>
                          <a:latin typeface="Calibri"/>
                        </a:defRPr>
                      </a:pPr>
                      <a:r>
                        <a:t>&lt;60 seconds</a:t>
                      </a:r>
                    </a:p>
                  </a:txBody>
                  <a:tcPr>
                    <a:solidFill>
                      <a:srgbClr val="F0F0F0"/>
                    </a:solidFill>
                  </a:tcPr>
                </a:tc>
                <a:tc>
                  <a:txBody>
                    <a:bodyPr/>
                    <a:lstStyle/>
                    <a:p>
                      <a:pPr>
                        <a:defRPr sz="1200">
                          <a:solidFill>
                            <a:srgbClr val="333333"/>
                          </a:solidFill>
                          <a:latin typeface="Calibri"/>
                        </a:defRPr>
                      </a:pPr>
                      <a:r>
                        <a:t>Configuration change caused issues</a:t>
                      </a:r>
                    </a:p>
                  </a:txBody>
                  <a:tcPr>
                    <a:solidFill>
                      <a:srgbClr val="F0F0F0"/>
                    </a:solidFill>
                  </a:tcPr>
                </a:tc>
              </a:tr>
              <a:tr h="365760">
                <a:tc>
                  <a:txBody>
                    <a:bodyPr/>
                    <a:lstStyle/>
                    <a:p>
                      <a:pPr>
                        <a:defRPr sz="1200">
                          <a:solidFill>
                            <a:srgbClr val="333333"/>
                          </a:solidFill>
                          <a:latin typeface="Calibri"/>
                        </a:defRPr>
                      </a:pPr>
                      <a:r>
                        <a:t>3</a:t>
                      </a:r>
                    </a:p>
                  </a:txBody>
                  <a:tcPr/>
                </a:tc>
                <a:tc>
                  <a:txBody>
                    <a:bodyPr/>
                    <a:lstStyle/>
                    <a:p>
                      <a:pPr>
                        <a:defRPr sz="1200">
                          <a:solidFill>
                            <a:srgbClr val="333333"/>
                          </a:solidFill>
                          <a:latin typeface="Calibri"/>
                        </a:defRPr>
                      </a:pPr>
                      <a:r>
                        <a:t>Previous image tag redeploy</a:t>
                      </a:r>
                    </a:p>
                  </a:txBody>
                  <a:tcPr/>
                </a:tc>
                <a:tc>
                  <a:txBody>
                    <a:bodyPr/>
                    <a:lstStyle/>
                    <a:p>
                      <a:pPr>
                        <a:defRPr sz="1200">
                          <a:solidFill>
                            <a:srgbClr val="333333"/>
                          </a:solidFill>
                          <a:latin typeface="Calibri"/>
                        </a:defRPr>
                      </a:pPr>
                      <a:r>
                        <a:t>&lt;5 minutes</a:t>
                      </a:r>
                    </a:p>
                  </a:txBody>
                  <a:tcPr/>
                </a:tc>
                <a:tc>
                  <a:txBody>
                    <a:bodyPr/>
                    <a:lstStyle/>
                    <a:p>
                      <a:pPr>
                        <a:defRPr sz="1200">
                          <a:solidFill>
                            <a:srgbClr val="333333"/>
                          </a:solidFill>
                          <a:latin typeface="Calibri"/>
                        </a:defRPr>
                      </a:pPr>
                      <a:r>
                        <a:t>Need to go back multiple versions</a:t>
                      </a:r>
                    </a:p>
                  </a:txBody>
                  <a:tcPr/>
                </a:tc>
              </a:tr>
              <a:tr h="365760">
                <a:tc>
                  <a:txBody>
                    <a:bodyPr/>
                    <a:lstStyle/>
                    <a:p>
                      <a:pPr>
                        <a:defRPr sz="1200">
                          <a:solidFill>
                            <a:srgbClr val="333333"/>
                          </a:solidFill>
                          <a:latin typeface="Calibri"/>
                        </a:defRPr>
                      </a:pPr>
                      <a:r>
                        <a:t>4</a:t>
                      </a:r>
                    </a:p>
                  </a:txBody>
                  <a:tcPr>
                    <a:solidFill>
                      <a:srgbClr val="F0F0F0"/>
                    </a:solidFill>
                  </a:tcPr>
                </a:tc>
                <a:tc>
                  <a:txBody>
                    <a:bodyPr/>
                    <a:lstStyle/>
                    <a:p>
                      <a:pPr>
                        <a:defRPr sz="1200">
                          <a:solidFill>
                            <a:srgbClr val="333333"/>
                          </a:solidFill>
                          <a:latin typeface="Calibri"/>
                        </a:defRPr>
                      </a:pPr>
                      <a:r>
                        <a:t>Infrastructure rebuild (Terraform)</a:t>
                      </a:r>
                    </a:p>
                  </a:txBody>
                  <a:tcPr>
                    <a:solidFill>
                      <a:srgbClr val="F0F0F0"/>
                    </a:solidFill>
                  </a:tcPr>
                </a:tc>
                <a:tc>
                  <a:txBody>
                    <a:bodyPr/>
                    <a:lstStyle/>
                    <a:p>
                      <a:pPr>
                        <a:defRPr sz="1200">
                          <a:solidFill>
                            <a:srgbClr val="333333"/>
                          </a:solidFill>
                          <a:latin typeface="Calibri"/>
                        </a:defRPr>
                      </a:pPr>
                      <a:r>
                        <a:t>15–30 minutes</a:t>
                      </a:r>
                    </a:p>
                  </a:txBody>
                  <a:tcPr>
                    <a:solidFill>
                      <a:srgbClr val="F0F0F0"/>
                    </a:solidFill>
                  </a:tcPr>
                </a:tc>
                <a:tc>
                  <a:txBody>
                    <a:bodyPr/>
                    <a:lstStyle/>
                    <a:p>
                      <a:pPr>
                        <a:defRPr sz="1200">
                          <a:solidFill>
                            <a:srgbClr val="333333"/>
                          </a:solidFill>
                          <a:latin typeface="Calibri"/>
                        </a:defRPr>
                      </a:pPr>
                      <a:r>
                        <a:t>Infrastructure compromise</a:t>
                      </a:r>
                    </a:p>
                  </a:txBody>
                  <a:tcPr>
                    <a:solidFill>
                      <a:srgbClr val="F0F0F0"/>
                    </a:solidFill>
                  </a:tcPr>
                </a:tc>
              </a:tr>
            </a:tbl>
          </a:graphicData>
        </a:graphic>
      </p:graphicFrame>
      <p:sp>
        <p:nvSpPr>
          <p:cNvPr id="7" name="TextBox 6"/>
          <p:cNvSpPr txBox="1"/>
          <p:nvPr/>
        </p:nvSpPr>
        <p:spPr>
          <a:xfrm>
            <a:off x="548640" y="4114800"/>
            <a:ext cx="10972800" cy="365760"/>
          </a:xfrm>
          <a:prstGeom prst="rect">
            <a:avLst/>
          </a:prstGeom>
          <a:noFill/>
        </p:spPr>
        <p:txBody>
          <a:bodyPr wrap="square">
            <a:spAutoFit/>
          </a:bodyPr>
          <a:lstStyle/>
          <a:p>
            <a:pPr algn="l">
              <a:spcAft>
                <a:spcPts val="400"/>
              </a:spcAft>
              <a:defRPr sz="2000" b="1" i="0">
                <a:solidFill>
                  <a:srgbClr val="1E3A5F"/>
                </a:solidFill>
                <a:latin typeface="Calibri"/>
              </a:defRPr>
            </a:pPr>
            <a:r>
              <a:t>Change Management — No Manual Changes Permitted</a:t>
            </a:r>
          </a:p>
        </p:txBody>
      </p:sp>
      <p:graphicFrame>
        <p:nvGraphicFramePr>
          <p:cNvPr id="8" name="Table 7"/>
          <p:cNvGraphicFramePr>
            <a:graphicFrameLocks noGrp="1"/>
          </p:cNvGraphicFramePr>
          <p:nvPr/>
        </p:nvGraphicFramePr>
        <p:xfrm>
          <a:off x="548640" y="466344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defRPr sz="1100" b="1">
                          <a:solidFill>
                            <a:srgbClr val="FFFFFF"/>
                          </a:solidFill>
                          <a:latin typeface="Calibri"/>
                        </a:defRPr>
                      </a:pPr>
                      <a:r>
                        <a:t>Configuration</a:t>
                      </a:r>
                    </a:p>
                  </a:txBody>
                  <a:tcPr>
                    <a:solidFill>
                      <a:srgbClr val="1E3A5F"/>
                    </a:solidFill>
                  </a:tcPr>
                </a:tc>
                <a:tc>
                  <a:txBody>
                    <a:bodyPr/>
                    <a:lstStyle/>
                    <a:p>
                      <a:pPr>
                        <a:defRPr sz="1100" b="1">
                          <a:solidFill>
                            <a:srgbClr val="FFFFFF"/>
                          </a:solidFill>
                          <a:latin typeface="Calibri"/>
                        </a:defRPr>
                      </a:pPr>
                      <a:r>
                        <a:t>Source of Truth</a:t>
                      </a:r>
                    </a:p>
                  </a:txBody>
                  <a:tcPr>
                    <a:solidFill>
                      <a:srgbClr val="1E3A5F"/>
                    </a:solidFill>
                  </a:tcPr>
                </a:tc>
                <a:tc>
                  <a:txBody>
                    <a:bodyPr/>
                    <a:lstStyle/>
                    <a:p>
                      <a:pPr>
                        <a:defRPr sz="1100" b="1">
                          <a:solidFill>
                            <a:srgbClr val="FFFFFF"/>
                          </a:solidFill>
                          <a:latin typeface="Calibri"/>
                        </a:defRPr>
                      </a:pPr>
                      <a:r>
                        <a:t>Applied By</a:t>
                      </a:r>
                    </a:p>
                  </a:txBody>
                  <a:tcPr>
                    <a:solidFill>
                      <a:srgbClr val="1E3A5F"/>
                    </a:solidFill>
                  </a:tcPr>
                </a:tc>
              </a:tr>
              <a:tr h="365760">
                <a:tc>
                  <a:txBody>
                    <a:bodyPr/>
                    <a:lstStyle/>
                    <a:p>
                      <a:pPr>
                        <a:defRPr sz="1100">
                          <a:solidFill>
                            <a:srgbClr val="333333"/>
                          </a:solidFill>
                          <a:latin typeface="Calibri"/>
                        </a:defRPr>
                      </a:pPr>
                      <a:r>
                        <a:t>Azure resources</a:t>
                      </a:r>
                    </a:p>
                  </a:txBody>
                  <a:tcPr/>
                </a:tc>
                <a:tc>
                  <a:txBody>
                    <a:bodyPr/>
                    <a:lstStyle/>
                    <a:p>
                      <a:pPr>
                        <a:defRPr sz="1100">
                          <a:solidFill>
                            <a:srgbClr val="333333"/>
                          </a:solidFill>
                          <a:latin typeface="Calibri"/>
                        </a:defRPr>
                      </a:pPr>
                      <a:r>
                        <a:t>Terraform files</a:t>
                      </a:r>
                    </a:p>
                  </a:txBody>
                  <a:tcPr/>
                </a:tc>
                <a:tc>
                  <a:txBody>
                    <a:bodyPr/>
                    <a:lstStyle/>
                    <a:p>
                      <a:pPr>
                        <a:defRPr sz="1100">
                          <a:solidFill>
                            <a:srgbClr val="333333"/>
                          </a:solidFill>
                          <a:latin typeface="Calibri"/>
                        </a:defRPr>
                      </a:pPr>
                      <a:r>
                        <a:t>terraform apply</a:t>
                      </a:r>
                    </a:p>
                  </a:txBody>
                  <a:tcPr/>
                </a:tc>
              </a:tr>
              <a:tr h="365760">
                <a:tc>
                  <a:txBody>
                    <a:bodyPr/>
                    <a:lstStyle/>
                    <a:p>
                      <a:pPr>
                        <a:defRPr sz="1100">
                          <a:solidFill>
                            <a:srgbClr val="333333"/>
                          </a:solidFill>
                          <a:latin typeface="Calibri"/>
                        </a:defRPr>
                      </a:pPr>
                      <a:r>
                        <a:t>K8s workloads</a:t>
                      </a:r>
                    </a:p>
                  </a:txBody>
                  <a:tcPr>
                    <a:solidFill>
                      <a:srgbClr val="F0F0F0"/>
                    </a:solidFill>
                  </a:tcPr>
                </a:tc>
                <a:tc>
                  <a:txBody>
                    <a:bodyPr/>
                    <a:lstStyle/>
                    <a:p>
                      <a:pPr>
                        <a:defRPr sz="1100">
                          <a:solidFill>
                            <a:srgbClr val="333333"/>
                          </a:solidFill>
                          <a:latin typeface="Calibri"/>
                        </a:defRPr>
                      </a:pPr>
                      <a:r>
                        <a:t>Helm charts</a:t>
                      </a:r>
                    </a:p>
                  </a:txBody>
                  <a:tcPr>
                    <a:solidFill>
                      <a:srgbClr val="F0F0F0"/>
                    </a:solidFill>
                  </a:tcPr>
                </a:tc>
                <a:tc>
                  <a:txBody>
                    <a:bodyPr/>
                    <a:lstStyle/>
                    <a:p>
                      <a:pPr>
                        <a:defRPr sz="1100">
                          <a:solidFill>
                            <a:srgbClr val="333333"/>
                          </a:solidFill>
                          <a:latin typeface="Calibri"/>
                        </a:defRPr>
                      </a:pPr>
                      <a:r>
                        <a:t>helm upgrade --install</a:t>
                      </a:r>
                    </a:p>
                  </a:txBody>
                  <a:tcPr>
                    <a:solidFill>
                      <a:srgbClr val="F0F0F0"/>
                    </a:solidFill>
                  </a:tcPr>
                </a:tc>
              </a:tr>
              <a:tr h="365760">
                <a:tc>
                  <a:txBody>
                    <a:bodyPr/>
                    <a:lstStyle/>
                    <a:p>
                      <a:pPr>
                        <a:defRPr sz="1100">
                          <a:solidFill>
                            <a:srgbClr val="333333"/>
                          </a:solidFill>
                          <a:latin typeface="Calibri"/>
                        </a:defRPr>
                      </a:pPr>
                      <a:r>
                        <a:t>App config</a:t>
                      </a:r>
                    </a:p>
                  </a:txBody>
                  <a:tcPr/>
                </a:tc>
                <a:tc>
                  <a:txBody>
                    <a:bodyPr/>
                    <a:lstStyle/>
                    <a:p>
                      <a:pPr>
                        <a:defRPr sz="1100">
                          <a:solidFill>
                            <a:srgbClr val="333333"/>
                          </a:solidFill>
                          <a:latin typeface="Calibri"/>
                        </a:defRPr>
                      </a:pPr>
                      <a:r>
                        <a:t>values.yaml + --set overrides</a:t>
                      </a:r>
                    </a:p>
                  </a:txBody>
                  <a:tcPr/>
                </a:tc>
                <a:tc>
                  <a:txBody>
                    <a:bodyPr/>
                    <a:lstStyle/>
                    <a:p>
                      <a:pPr>
                        <a:defRPr sz="1100">
                          <a:solidFill>
                            <a:srgbClr val="333333"/>
                          </a:solidFill>
                          <a:latin typeface="Calibri"/>
                        </a:defRPr>
                      </a:pPr>
                      <a:r>
                        <a:t>Helm</a:t>
                      </a:r>
                    </a:p>
                  </a:txBody>
                  <a:tcPr/>
                </a:tc>
              </a:tr>
              <a:tr h="365760">
                <a:tc>
                  <a:txBody>
                    <a:bodyPr/>
                    <a:lstStyle/>
                    <a:p>
                      <a:pPr>
                        <a:defRPr sz="1100">
                          <a:solidFill>
                            <a:srgbClr val="333333"/>
                          </a:solidFill>
                          <a:latin typeface="Calibri"/>
                        </a:defRPr>
                      </a:pPr>
                      <a:r>
                        <a:t>CI/CD workflows</a:t>
                      </a:r>
                    </a:p>
                  </a:txBody>
                  <a:tcPr>
                    <a:solidFill>
                      <a:srgbClr val="F0F0F0"/>
                    </a:solidFill>
                  </a:tcPr>
                </a:tc>
                <a:tc>
                  <a:txBody>
                    <a:bodyPr/>
                    <a:lstStyle/>
                    <a:p>
                      <a:pPr>
                        <a:defRPr sz="1100">
                          <a:solidFill>
                            <a:srgbClr val="333333"/>
                          </a:solidFill>
                          <a:latin typeface="Calibri"/>
                        </a:defRPr>
                      </a:pPr>
                      <a:r>
                        <a:t>GitHub Actions YAML</a:t>
                      </a:r>
                    </a:p>
                  </a:txBody>
                  <a:tcPr>
                    <a:solidFill>
                      <a:srgbClr val="F0F0F0"/>
                    </a:solidFill>
                  </a:tcPr>
                </a:tc>
                <a:tc>
                  <a:txBody>
                    <a:bodyPr/>
                    <a:lstStyle/>
                    <a:p>
                      <a:pPr>
                        <a:defRPr sz="1100">
                          <a:solidFill>
                            <a:srgbClr val="333333"/>
                          </a:solidFill>
                          <a:latin typeface="Calibri"/>
                        </a:defRPr>
                      </a:pPr>
                      <a:r>
                        <a:t>GitHub</a:t>
                      </a:r>
                    </a:p>
                  </a:txBody>
                  <a:tcPr>
                    <a:solidFill>
                      <a:srgbClr val="F0F0F0"/>
                    </a:solidFill>
                  </a:tcPr>
                </a:tc>
              </a:tr>
              <a:tr h="365760">
                <a:tc>
                  <a:txBody>
                    <a:bodyPr/>
                    <a:lstStyle/>
                    <a:p>
                      <a:pPr>
                        <a:defRPr sz="1100">
                          <a:solidFill>
                            <a:srgbClr val="333333"/>
                          </a:solidFill>
                          <a:latin typeface="Calibri"/>
                        </a:defRPr>
                      </a:pPr>
                      <a:r>
                        <a:t>Container contents</a:t>
                      </a:r>
                    </a:p>
                  </a:txBody>
                  <a:tcPr/>
                </a:tc>
                <a:tc>
                  <a:txBody>
                    <a:bodyPr/>
                    <a:lstStyle/>
                    <a:p>
                      <a:pPr>
                        <a:defRPr sz="1100">
                          <a:solidFill>
                            <a:srgbClr val="333333"/>
                          </a:solidFill>
                          <a:latin typeface="Calibri"/>
                        </a:defRPr>
                      </a:pPr>
                      <a:r>
                        <a:t>Dockerfiles</a:t>
                      </a:r>
                    </a:p>
                  </a:txBody>
                  <a:tcPr/>
                </a:tc>
                <a:tc>
                  <a:txBody>
                    <a:bodyPr/>
                    <a:lstStyle/>
                    <a:p>
                      <a:pPr>
                        <a:defRPr sz="1100">
                          <a:solidFill>
                            <a:srgbClr val="333333"/>
                          </a:solidFill>
                          <a:latin typeface="Calibri"/>
                        </a:defRPr>
                      </a:pPr>
                      <a:r>
                        <a:t>docker build</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Additional Features</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03520" cy="219456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55448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72768"/>
            <a:ext cx="365760" cy="365760"/>
          </a:xfrm>
          <a:prstGeom prst="rect">
            <a:avLst/>
          </a:prstGeom>
          <a:noFill/>
        </p:spPr>
        <p:txBody>
          <a:bodyPr wrap="square">
            <a:spAutoFit/>
          </a:bodyPr>
          <a:lstStyle/>
          <a:p>
            <a:pPr algn="ctr">
              <a:spcAft>
                <a:spcPts val="400"/>
              </a:spcAft>
              <a:defRPr sz="2000" b="1" i="0">
                <a:solidFill>
                  <a:srgbClr val="FFFFFF"/>
                </a:solidFill>
                <a:latin typeface="Calibri"/>
              </a:defRPr>
            </a:pPr>
            <a:r>
              <a:t>1</a:t>
            </a:r>
          </a:p>
        </p:txBody>
      </p:sp>
      <p:sp>
        <p:nvSpPr>
          <p:cNvPr id="8" name="TextBox 7"/>
          <p:cNvSpPr txBox="1"/>
          <p:nvPr/>
        </p:nvSpPr>
        <p:spPr>
          <a:xfrm>
            <a:off x="1325880" y="1554480"/>
            <a:ext cx="4114800" cy="457200"/>
          </a:xfrm>
          <a:prstGeom prst="rect">
            <a:avLst/>
          </a:prstGeom>
          <a:noFill/>
        </p:spPr>
        <p:txBody>
          <a:bodyPr wrap="square">
            <a:spAutoFit/>
          </a:bodyPr>
          <a:lstStyle/>
          <a:p>
            <a:pPr algn="l">
              <a:spcAft>
                <a:spcPts val="400"/>
              </a:spcAft>
              <a:defRPr sz="1800" b="1" i="0">
                <a:solidFill>
                  <a:srgbClr val="1E3A5F"/>
                </a:solidFill>
                <a:latin typeface="Calibri"/>
              </a:defRPr>
            </a:pPr>
            <a:r>
              <a:t>Automated MongoDB Backup</a:t>
            </a:r>
          </a:p>
        </p:txBody>
      </p:sp>
      <p:sp>
        <p:nvSpPr>
          <p:cNvPr id="9" name="TextBox 8"/>
          <p:cNvSpPr txBox="1"/>
          <p:nvPr/>
        </p:nvSpPr>
        <p:spPr>
          <a:xfrm>
            <a:off x="822960" y="2194560"/>
            <a:ext cx="4754880" cy="1188720"/>
          </a:xfrm>
          <a:prstGeom prst="rect">
            <a:avLst/>
          </a:prstGeom>
          <a:noFill/>
        </p:spPr>
        <p:txBody>
          <a:bodyPr wrap="square">
            <a:spAutoFit/>
          </a:bodyPr>
          <a:lstStyle/>
          <a:p>
            <a:pPr algn="l">
              <a:spcAft>
                <a:spcPts val="400"/>
              </a:spcAft>
              <a:defRPr sz="1400" b="0" i="0">
                <a:solidFill>
                  <a:srgbClr val="333333"/>
                </a:solidFill>
                <a:latin typeface="Calibri"/>
              </a:defRPr>
            </a:pPr>
            <a:r>
              <a:t>K8s CronJob runs mongodump daily at 02:00 UTC</a:t>
            </a:r>
            <a:br/>
            <a:r>
              <a:t>7-day rolling retention with auto-cleanup</a:t>
            </a:r>
          </a:p>
        </p:txBody>
      </p:sp>
      <p:sp>
        <p:nvSpPr>
          <p:cNvPr id="10" name="Rounded Rectangle 9"/>
          <p:cNvSpPr/>
          <p:nvPr/>
        </p:nvSpPr>
        <p:spPr>
          <a:xfrm>
            <a:off x="6217920" y="1371600"/>
            <a:ext cx="5303520" cy="21945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0" y="155448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572768"/>
            <a:ext cx="365760" cy="365760"/>
          </a:xfrm>
          <a:prstGeom prst="rect">
            <a:avLst/>
          </a:prstGeom>
          <a:noFill/>
        </p:spPr>
        <p:txBody>
          <a:bodyPr wrap="square">
            <a:spAutoFit/>
          </a:bodyPr>
          <a:lstStyle/>
          <a:p>
            <a:pPr algn="ctr">
              <a:spcAft>
                <a:spcPts val="400"/>
              </a:spcAft>
              <a:defRPr sz="2000" b="1" i="0">
                <a:solidFill>
                  <a:srgbClr val="FFFFFF"/>
                </a:solidFill>
                <a:latin typeface="Calibri"/>
              </a:defRPr>
            </a:pPr>
            <a:r>
              <a:t>2</a:t>
            </a:r>
          </a:p>
        </p:txBody>
      </p:sp>
      <p:sp>
        <p:nvSpPr>
          <p:cNvPr id="13" name="TextBox 12"/>
          <p:cNvSpPr txBox="1"/>
          <p:nvPr/>
        </p:nvSpPr>
        <p:spPr>
          <a:xfrm>
            <a:off x="6995160" y="1554480"/>
            <a:ext cx="4114800" cy="457200"/>
          </a:xfrm>
          <a:prstGeom prst="rect">
            <a:avLst/>
          </a:prstGeom>
          <a:noFill/>
        </p:spPr>
        <p:txBody>
          <a:bodyPr wrap="square">
            <a:spAutoFit/>
          </a:bodyPr>
          <a:lstStyle/>
          <a:p>
            <a:pPr algn="l">
              <a:spcAft>
                <a:spcPts val="400"/>
              </a:spcAft>
              <a:defRPr sz="1800" b="1" i="0">
                <a:solidFill>
                  <a:srgbClr val="1E3A5F"/>
                </a:solidFill>
                <a:latin typeface="Calibri"/>
              </a:defRPr>
            </a:pPr>
            <a:r>
              <a:t>Horizontal Pod Autoscaling</a:t>
            </a:r>
          </a:p>
        </p:txBody>
      </p:sp>
      <p:sp>
        <p:nvSpPr>
          <p:cNvPr id="14" name="TextBox 13"/>
          <p:cNvSpPr txBox="1"/>
          <p:nvPr/>
        </p:nvSpPr>
        <p:spPr>
          <a:xfrm>
            <a:off x="6492240" y="2194560"/>
            <a:ext cx="4754880" cy="1188720"/>
          </a:xfrm>
          <a:prstGeom prst="rect">
            <a:avLst/>
          </a:prstGeom>
          <a:noFill/>
        </p:spPr>
        <p:txBody>
          <a:bodyPr wrap="square">
            <a:spAutoFit/>
          </a:bodyPr>
          <a:lstStyle/>
          <a:p>
            <a:pPr algn="l">
              <a:spcAft>
                <a:spcPts val="400"/>
              </a:spcAft>
              <a:defRPr sz="1400" b="0" i="0">
                <a:solidFill>
                  <a:srgbClr val="333333"/>
                </a:solidFill>
                <a:latin typeface="Calibri"/>
              </a:defRPr>
            </a:pPr>
            <a:r>
              <a:t>HPA v2 with multi-metric scaling (CPU + memory)</a:t>
            </a:r>
            <a:br/>
            <a:r>
              <a:t>Frontend: 2–10 pods | Backend: 2–8 pods</a:t>
            </a:r>
          </a:p>
        </p:txBody>
      </p:sp>
      <p:sp>
        <p:nvSpPr>
          <p:cNvPr id="15" name="Rounded Rectangle 14"/>
          <p:cNvSpPr/>
          <p:nvPr/>
        </p:nvSpPr>
        <p:spPr>
          <a:xfrm>
            <a:off x="548640" y="3931920"/>
            <a:ext cx="5303520" cy="2194560"/>
          </a:xfrm>
          <a:prstGeom prst="roundRect">
            <a:avLst/>
          </a:prstGeom>
          <a:solidFill>
            <a:srgbClr val="FFFF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114800"/>
            <a:ext cx="457200" cy="4572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133088"/>
            <a:ext cx="365760" cy="365760"/>
          </a:xfrm>
          <a:prstGeom prst="rect">
            <a:avLst/>
          </a:prstGeom>
          <a:noFill/>
        </p:spPr>
        <p:txBody>
          <a:bodyPr wrap="square">
            <a:spAutoFit/>
          </a:bodyPr>
          <a:lstStyle/>
          <a:p>
            <a:pPr algn="ctr">
              <a:spcAft>
                <a:spcPts val="400"/>
              </a:spcAft>
              <a:defRPr sz="2000" b="1" i="0">
                <a:solidFill>
                  <a:srgbClr val="FFFFFF"/>
                </a:solidFill>
                <a:latin typeface="Calibri"/>
              </a:defRPr>
            </a:pPr>
            <a:r>
              <a:t>3</a:t>
            </a:r>
          </a:p>
        </p:txBody>
      </p:sp>
      <p:sp>
        <p:nvSpPr>
          <p:cNvPr id="18" name="TextBox 17"/>
          <p:cNvSpPr txBox="1"/>
          <p:nvPr/>
        </p:nvSpPr>
        <p:spPr>
          <a:xfrm>
            <a:off x="1325880" y="4114800"/>
            <a:ext cx="4114800" cy="457200"/>
          </a:xfrm>
          <a:prstGeom prst="rect">
            <a:avLst/>
          </a:prstGeom>
          <a:noFill/>
        </p:spPr>
        <p:txBody>
          <a:bodyPr wrap="square">
            <a:spAutoFit/>
          </a:bodyPr>
          <a:lstStyle/>
          <a:p>
            <a:pPr algn="l">
              <a:spcAft>
                <a:spcPts val="400"/>
              </a:spcAft>
              <a:defRPr sz="1800" b="1" i="0">
                <a:solidFill>
                  <a:srgbClr val="1E3A5F"/>
                </a:solidFill>
                <a:latin typeface="Calibri"/>
              </a:defRPr>
            </a:pPr>
            <a:r>
              <a:t>Container Vulnerability Scanning</a:t>
            </a:r>
          </a:p>
        </p:txBody>
      </p:sp>
      <p:sp>
        <p:nvSpPr>
          <p:cNvPr id="19" name="TextBox 18"/>
          <p:cNvSpPr txBox="1"/>
          <p:nvPr/>
        </p:nvSpPr>
        <p:spPr>
          <a:xfrm>
            <a:off x="822960" y="4754880"/>
            <a:ext cx="4754880" cy="1188720"/>
          </a:xfrm>
          <a:prstGeom prst="rect">
            <a:avLst/>
          </a:prstGeom>
          <a:noFill/>
        </p:spPr>
        <p:txBody>
          <a:bodyPr wrap="square">
            <a:spAutoFit/>
          </a:bodyPr>
          <a:lstStyle/>
          <a:p>
            <a:pPr algn="l">
              <a:spcAft>
                <a:spcPts val="400"/>
              </a:spcAft>
              <a:defRPr sz="1400" b="0" i="0">
                <a:solidFill>
                  <a:srgbClr val="333333"/>
                </a:solidFill>
                <a:latin typeface="Calibri"/>
              </a:defRPr>
            </a:pPr>
            <a:r>
              <a:t>Trivy integrated into CI pipeline</a:t>
            </a:r>
            <a:br/>
            <a:r>
              <a:t>Scans OS packages + language deps</a:t>
            </a:r>
            <a:br/>
            <a:r>
              <a:t>Fails build on CRITICAL CVEs</a:t>
            </a:r>
          </a:p>
        </p:txBody>
      </p:sp>
      <p:sp>
        <p:nvSpPr>
          <p:cNvPr id="20" name="Rounded Rectangle 19"/>
          <p:cNvSpPr/>
          <p:nvPr/>
        </p:nvSpPr>
        <p:spPr>
          <a:xfrm>
            <a:off x="6217920" y="3931920"/>
            <a:ext cx="5303520" cy="219456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411480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4133088"/>
            <a:ext cx="365760" cy="365760"/>
          </a:xfrm>
          <a:prstGeom prst="rect">
            <a:avLst/>
          </a:prstGeom>
          <a:noFill/>
        </p:spPr>
        <p:txBody>
          <a:bodyPr wrap="square">
            <a:spAutoFit/>
          </a:bodyPr>
          <a:lstStyle/>
          <a:p>
            <a:pPr algn="ctr">
              <a:spcAft>
                <a:spcPts val="400"/>
              </a:spcAft>
              <a:defRPr sz="2000" b="1" i="0">
                <a:solidFill>
                  <a:srgbClr val="FFFFFF"/>
                </a:solidFill>
                <a:latin typeface="Calibri"/>
              </a:defRPr>
            </a:pPr>
            <a:r>
              <a:t>4</a:t>
            </a:r>
          </a:p>
        </p:txBody>
      </p:sp>
      <p:sp>
        <p:nvSpPr>
          <p:cNvPr id="23" name="TextBox 22"/>
          <p:cNvSpPr txBox="1"/>
          <p:nvPr/>
        </p:nvSpPr>
        <p:spPr>
          <a:xfrm>
            <a:off x="6995160" y="4114800"/>
            <a:ext cx="4114800" cy="457200"/>
          </a:xfrm>
          <a:prstGeom prst="rect">
            <a:avLst/>
          </a:prstGeom>
          <a:noFill/>
        </p:spPr>
        <p:txBody>
          <a:bodyPr wrap="square">
            <a:spAutoFit/>
          </a:bodyPr>
          <a:lstStyle/>
          <a:p>
            <a:pPr algn="l">
              <a:spcAft>
                <a:spcPts val="400"/>
              </a:spcAft>
              <a:defRPr sz="1800" b="1" i="0">
                <a:solidFill>
                  <a:srgbClr val="1E3A5F"/>
                </a:solidFill>
                <a:latin typeface="Calibri"/>
              </a:defRPr>
            </a:pPr>
            <a:r>
              <a:t>Blue/Green Zero-Downtime Deploy</a:t>
            </a:r>
          </a:p>
        </p:txBody>
      </p:sp>
      <p:sp>
        <p:nvSpPr>
          <p:cNvPr id="24" name="TextBox 23"/>
          <p:cNvSpPr txBox="1"/>
          <p:nvPr/>
        </p:nvSpPr>
        <p:spPr>
          <a:xfrm>
            <a:off x="6492240" y="4754880"/>
            <a:ext cx="4754880" cy="1188720"/>
          </a:xfrm>
          <a:prstGeom prst="rect">
            <a:avLst/>
          </a:prstGeom>
          <a:noFill/>
        </p:spPr>
        <p:txBody>
          <a:bodyPr wrap="square">
            <a:spAutoFit/>
          </a:bodyPr>
          <a:lstStyle/>
          <a:p>
            <a:pPr algn="l">
              <a:spcAft>
                <a:spcPts val="400"/>
              </a:spcAft>
              <a:defRPr sz="1400" b="0" i="0">
                <a:solidFill>
                  <a:srgbClr val="333333"/>
                </a:solidFill>
                <a:latin typeface="Calibri"/>
              </a:defRPr>
            </a:pPr>
            <a:r>
              <a:t>Pod label slot switching</a:t>
            </a:r>
            <a:br/>
            <a:r>
              <a:t>Automatic inactive-slot detection</a:t>
            </a:r>
            <a:br/>
            <a:r>
              <a:t>Instant rollback &lt;10 seconds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square">
            <a:spAutoFit/>
          </a:bodyPr>
          <a:lstStyle/>
          <a:p>
            <a:pPr algn="l">
              <a:spcAft>
                <a:spcPts val="400"/>
              </a:spcAft>
              <a:defRPr sz="2800" b="1" i="0">
                <a:solidFill>
                  <a:srgbClr val="FFFFFF"/>
                </a:solidFill>
                <a:latin typeface="Calibri"/>
              </a:defRPr>
            </a:pPr>
            <a:r>
              <a:t>Critical Reflection</a:t>
            </a:r>
          </a:p>
        </p:txBody>
      </p:sp>
      <p:sp>
        <p:nvSpPr>
          <p:cNvPr id="4" name="Rectangle 3"/>
          <p:cNvSpPr/>
          <p:nvPr/>
        </p:nvSpPr>
        <p:spPr>
          <a:xfrm>
            <a:off x="0" y="1005840"/>
            <a:ext cx="1218895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80160"/>
            <a:ext cx="5486400" cy="2743200"/>
          </a:xfrm>
          <a:prstGeom prst="rect">
            <a:avLst/>
          </a:prstGeom>
          <a:solidFill>
            <a:srgbClr val="ECF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029200" cy="365760"/>
          </a:xfrm>
          <a:prstGeom prst="rect">
            <a:avLst/>
          </a:prstGeom>
          <a:noFill/>
        </p:spPr>
        <p:txBody>
          <a:bodyPr wrap="square">
            <a:spAutoFit/>
          </a:bodyPr>
          <a:lstStyle/>
          <a:p>
            <a:pPr algn="l">
              <a:spcAft>
                <a:spcPts val="400"/>
              </a:spcAft>
              <a:defRPr sz="2000" b="1" i="0">
                <a:solidFill>
                  <a:srgbClr val="10B981"/>
                </a:solidFill>
                <a:latin typeface="Calibri"/>
              </a:defRPr>
            </a:pPr>
            <a:r>
              <a:t>✓ Strengths</a:t>
            </a:r>
          </a:p>
        </p:txBody>
      </p:sp>
      <p:sp>
        <p:nvSpPr>
          <p:cNvPr id="7" name="TextBox 6"/>
          <p:cNvSpPr txBox="1"/>
          <p:nvPr/>
        </p:nvSpPr>
        <p:spPr>
          <a:xfrm>
            <a:off x="548640" y="1828800"/>
            <a:ext cx="5029200" cy="2103120"/>
          </a:xfrm>
          <a:prstGeom prst="rect">
            <a:avLst/>
          </a:prstGeom>
          <a:noFill/>
        </p:spPr>
        <p:txBody>
          <a:bodyPr wrap="square">
            <a:spAutoFit/>
          </a:bodyPr>
          <a:lstStyle/>
          <a:p>
            <a:pPr>
              <a:spcAft>
                <a:spcPts val="600"/>
              </a:spcAft>
              <a:defRPr sz="1500">
                <a:solidFill>
                  <a:srgbClr val="065F46"/>
                </a:solidFill>
                <a:latin typeface="Calibri"/>
              </a:defRPr>
            </a:pPr>
            <a:r>
              <a:t>• Complete automation — zero manual steps</a:t>
            </a:r>
          </a:p>
          <a:p>
            <a:pPr>
              <a:spcAft>
                <a:spcPts val="600"/>
              </a:spcAft>
              <a:defRPr sz="1500">
                <a:solidFill>
                  <a:srgbClr val="065F46"/>
                </a:solidFill>
                <a:latin typeface="Calibri"/>
              </a:defRPr>
            </a:pPr>
            <a:r>
              <a:t>• Independent service pipelines with path filters</a:t>
            </a:r>
          </a:p>
          <a:p>
            <a:pPr>
              <a:spcAft>
                <a:spcPts val="600"/>
              </a:spcAft>
              <a:defRPr sz="1500">
                <a:solidFill>
                  <a:srgbClr val="065F46"/>
                </a:solidFill>
                <a:latin typeface="Calibri"/>
              </a:defRPr>
            </a:pPr>
            <a:r>
              <a:t>• Robust rollback — sub-10-second slot switching</a:t>
            </a:r>
          </a:p>
          <a:p>
            <a:pPr>
              <a:spcAft>
                <a:spcPts val="600"/>
              </a:spcAft>
              <a:defRPr sz="1500">
                <a:solidFill>
                  <a:srgbClr val="065F46"/>
                </a:solidFill>
                <a:latin typeface="Calibri"/>
              </a:defRPr>
            </a:pPr>
            <a:r>
              <a:t>• Security by default — non-root, Trivy, managed ID</a:t>
            </a:r>
          </a:p>
          <a:p>
            <a:pPr>
              <a:spcAft>
                <a:spcPts val="600"/>
              </a:spcAft>
              <a:defRPr sz="1500">
                <a:solidFill>
                  <a:srgbClr val="065F46"/>
                </a:solidFill>
                <a:latin typeface="Calibri"/>
              </a:defRPr>
            </a:pPr>
            <a:r>
              <a:t>• Observable — Prometheus metrics, structured logging</a:t>
            </a:r>
          </a:p>
        </p:txBody>
      </p:sp>
      <p:sp>
        <p:nvSpPr>
          <p:cNvPr id="8" name="Rectangle 7"/>
          <p:cNvSpPr/>
          <p:nvPr/>
        </p:nvSpPr>
        <p:spPr>
          <a:xfrm>
            <a:off x="6309360" y="1280160"/>
            <a:ext cx="5486400" cy="27432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371600"/>
            <a:ext cx="5029200" cy="365760"/>
          </a:xfrm>
          <a:prstGeom prst="rect">
            <a:avLst/>
          </a:prstGeom>
          <a:noFill/>
        </p:spPr>
        <p:txBody>
          <a:bodyPr wrap="square">
            <a:spAutoFit/>
          </a:bodyPr>
          <a:lstStyle/>
          <a:p>
            <a:pPr algn="l">
              <a:spcAft>
                <a:spcPts val="400"/>
              </a:spcAft>
              <a:defRPr sz="2000" b="1" i="0">
                <a:solidFill>
                  <a:srgbClr val="EF4444"/>
                </a:solidFill>
                <a:latin typeface="Calibri"/>
              </a:defRPr>
            </a:pPr>
            <a:r>
              <a:t>✗ Limitations &amp; Future Work</a:t>
            </a:r>
          </a:p>
        </p:txBody>
      </p:sp>
      <p:sp>
        <p:nvSpPr>
          <p:cNvPr id="10" name="TextBox 9"/>
          <p:cNvSpPr txBox="1"/>
          <p:nvPr/>
        </p:nvSpPr>
        <p:spPr>
          <a:xfrm>
            <a:off x="6492240" y="1828800"/>
            <a:ext cx="5029200" cy="2103120"/>
          </a:xfrm>
          <a:prstGeom prst="rect">
            <a:avLst/>
          </a:prstGeom>
          <a:noFill/>
        </p:spPr>
        <p:txBody>
          <a:bodyPr wrap="square">
            <a:spAutoFit/>
          </a:bodyPr>
          <a:lstStyle/>
          <a:p>
            <a:pPr>
              <a:spcAft>
                <a:spcPts val="600"/>
              </a:spcAft>
              <a:defRPr sz="1500">
                <a:solidFill>
                  <a:srgbClr val="7F1D1D"/>
                </a:solidFill>
                <a:latin typeface="Calibri"/>
              </a:defRPr>
            </a:pPr>
            <a:r>
              <a:t>• Single MongoDB instance — needs Replica Set or Cosmos DB</a:t>
            </a:r>
          </a:p>
          <a:p>
            <a:pPr>
              <a:spcAft>
                <a:spcPts val="600"/>
              </a:spcAft>
              <a:defRPr sz="1500">
                <a:solidFill>
                  <a:srgbClr val="7F1D1D"/>
                </a:solidFill>
                <a:latin typeface="Calibri"/>
              </a:defRPr>
            </a:pPr>
            <a:r>
              <a:t>• No integration/E2E tests in pipeline</a:t>
            </a:r>
          </a:p>
          <a:p>
            <a:pPr>
              <a:spcAft>
                <a:spcPts val="600"/>
              </a:spcAft>
              <a:defRPr sz="1500">
                <a:solidFill>
                  <a:srgbClr val="7F1D1D"/>
                </a:solidFill>
                <a:latin typeface="Calibri"/>
              </a:defRPr>
            </a:pPr>
            <a:r>
              <a:t>• No service mesh for canary or mTLS</a:t>
            </a:r>
          </a:p>
          <a:p>
            <a:pPr>
              <a:spcAft>
                <a:spcPts val="600"/>
              </a:spcAft>
              <a:defRPr sz="1500">
                <a:solidFill>
                  <a:srgbClr val="7F1D1D"/>
                </a:solidFill>
                <a:latin typeface="Calibri"/>
              </a:defRPr>
            </a:pPr>
            <a:r>
              <a:t>• No GitOps (ArgoCD/Flux) for state reconciliation</a:t>
            </a:r>
          </a:p>
          <a:p>
            <a:pPr>
              <a:spcAft>
                <a:spcPts val="600"/>
              </a:spcAft>
              <a:defRPr sz="1500">
                <a:solidFill>
                  <a:srgbClr val="7F1D1D"/>
                </a:solidFill>
                <a:latin typeface="Calibri"/>
              </a:defRPr>
            </a:pPr>
            <a:r>
              <a:t>• Manual rollback — should auto-revert on error spikes</a:t>
            </a:r>
          </a:p>
          <a:p>
            <a:pPr>
              <a:spcAft>
                <a:spcPts val="600"/>
              </a:spcAft>
              <a:defRPr sz="1500">
                <a:solidFill>
                  <a:srgbClr val="7F1D1D"/>
                </a:solidFill>
                <a:latin typeface="Calibri"/>
              </a:defRPr>
            </a:pPr>
            <a:r>
              <a:t>• No authentication — needs Azure AD / Entra ID</a:t>
            </a:r>
          </a:p>
        </p:txBody>
      </p:sp>
      <p:sp>
        <p:nvSpPr>
          <p:cNvPr id="11" name="Rectangle 10"/>
          <p:cNvSpPr/>
          <p:nvPr/>
        </p:nvSpPr>
        <p:spPr>
          <a:xfrm>
            <a:off x="365760" y="4297680"/>
            <a:ext cx="11430000" cy="219456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389120"/>
            <a:ext cx="10972800" cy="365760"/>
          </a:xfrm>
          <a:prstGeom prst="rect">
            <a:avLst/>
          </a:prstGeom>
          <a:noFill/>
        </p:spPr>
        <p:txBody>
          <a:bodyPr wrap="square">
            <a:spAutoFit/>
          </a:bodyPr>
          <a:lstStyle/>
          <a:p>
            <a:pPr algn="l">
              <a:spcAft>
                <a:spcPts val="400"/>
              </a:spcAft>
              <a:defRPr sz="1800" b="1" i="0">
                <a:solidFill>
                  <a:srgbClr val="1E3A5F"/>
                </a:solidFill>
                <a:latin typeface="Calibri"/>
              </a:defRPr>
            </a:pPr>
            <a:r>
              <a:t>Key Takeaway</a:t>
            </a:r>
          </a:p>
        </p:txBody>
      </p:sp>
      <p:sp>
        <p:nvSpPr>
          <p:cNvPr id="13" name="TextBox 12"/>
          <p:cNvSpPr txBox="1"/>
          <p:nvPr/>
        </p:nvSpPr>
        <p:spPr>
          <a:xfrm>
            <a:off x="548640" y="4846320"/>
            <a:ext cx="10972800" cy="1463040"/>
          </a:xfrm>
          <a:prstGeom prst="rect">
            <a:avLst/>
          </a:prstGeom>
          <a:noFill/>
        </p:spPr>
        <p:txBody>
          <a:bodyPr wrap="square">
            <a:spAutoFit/>
          </a:bodyPr>
          <a:lstStyle/>
          <a:p>
            <a:pPr algn="l">
              <a:spcAft>
                <a:spcPts val="400"/>
              </a:spcAft>
              <a:defRPr sz="1600" b="0" i="0">
                <a:solidFill>
                  <a:srgbClr val="333333"/>
                </a:solidFill>
                <a:latin typeface="Calibri"/>
              </a:defRPr>
            </a:pPr>
            <a:r>
              <a:t>The microservice architectural style introduces deployment complexity that monoliths don't face. With appropriate tooling — Terraform for infrastructure, Helm for packaging, GitHub Actions for orchestration — this complexity is fully managed through automation. The result is a system that is reproducible, observable, and resilient: it can be destroyed and reliably rebuilt from code alone.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914400" y="1828800"/>
            <a:ext cx="10058400" cy="1097280"/>
          </a:xfrm>
          <a:prstGeom prst="rect">
            <a:avLst/>
          </a:prstGeom>
          <a:noFill/>
        </p:spPr>
        <p:txBody>
          <a:bodyPr wrap="square">
            <a:spAutoFit/>
          </a:bodyPr>
          <a:lstStyle/>
          <a:p>
            <a:pPr algn="ctr">
              <a:spcAft>
                <a:spcPts val="400"/>
              </a:spcAft>
              <a:defRPr sz="4400" b="1" i="0">
                <a:solidFill>
                  <a:srgbClr val="FFFFFF"/>
                </a:solidFill>
                <a:latin typeface="Calibri"/>
              </a:defRPr>
            </a:pPr>
            <a:r>
              <a:t>Questions &amp; Discussion</a:t>
            </a:r>
          </a:p>
        </p:txBody>
      </p:sp>
      <p:sp>
        <p:nvSpPr>
          <p:cNvPr id="3" name="Rectangle 2"/>
          <p:cNvSpPr/>
          <p:nvPr/>
        </p:nvSpPr>
        <p:spPr>
          <a:xfrm>
            <a:off x="3657600" y="3017520"/>
            <a:ext cx="48737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474720"/>
            <a:ext cx="10058400" cy="731520"/>
          </a:xfrm>
          <a:prstGeom prst="rect">
            <a:avLst/>
          </a:prstGeom>
          <a:noFill/>
        </p:spPr>
        <p:txBody>
          <a:bodyPr wrap="square">
            <a:spAutoFit/>
          </a:bodyPr>
          <a:lstStyle/>
          <a:p>
            <a:pPr algn="ctr">
              <a:spcAft>
                <a:spcPts val="400"/>
              </a:spcAft>
              <a:defRPr sz="2400" b="0" i="0">
                <a:solidFill>
                  <a:srgbClr val="93C5FD"/>
                </a:solidFill>
                <a:latin typeface="Calibri"/>
              </a:defRPr>
            </a:pPr>
            <a:r>
              <a:t>Thank you for your attention</a:t>
            </a:r>
          </a:p>
        </p:txBody>
      </p:sp>
      <p:sp>
        <p:nvSpPr>
          <p:cNvPr id="5" name="TextBox 4"/>
          <p:cNvSpPr txBox="1"/>
          <p:nvPr/>
        </p:nvSpPr>
        <p:spPr>
          <a:xfrm>
            <a:off x="914400" y="4572000"/>
            <a:ext cx="10058400" cy="457200"/>
          </a:xfrm>
          <a:prstGeom prst="rect">
            <a:avLst/>
          </a:prstGeom>
          <a:noFill/>
        </p:spPr>
        <p:txBody>
          <a:bodyPr wrap="square">
            <a:spAutoFit/>
          </a:bodyPr>
          <a:lstStyle/>
          <a:p>
            <a:pPr algn="ctr">
              <a:spcAft>
                <a:spcPts val="400"/>
              </a:spcAft>
              <a:defRPr sz="1400" b="0" i="0">
                <a:solidFill>
                  <a:srgbClr val="888888"/>
                </a:solidFill>
                <a:latin typeface="Calibri"/>
              </a:defRPr>
            </a:pPr>
            <a:r>
              <a:t>GitHub: github.com/yewande111/Release-Management-Plan-RMP-</a:t>
            </a:r>
          </a:p>
        </p:txBody>
      </p:sp>
      <p:sp>
        <p:nvSpPr>
          <p:cNvPr id="6" name="TextBox 5"/>
          <p:cNvSpPr txBox="1"/>
          <p:nvPr/>
        </p:nvSpPr>
        <p:spPr>
          <a:xfrm>
            <a:off x="914400" y="5029200"/>
            <a:ext cx="10058400" cy="457200"/>
          </a:xfrm>
          <a:prstGeom prst="rect">
            <a:avLst/>
          </a:prstGeom>
          <a:noFill/>
        </p:spPr>
        <p:txBody>
          <a:bodyPr wrap="square">
            <a:spAutoFit/>
          </a:bodyPr>
          <a:lstStyle/>
          <a:p>
            <a:pPr algn="ctr">
              <a:spcAft>
                <a:spcPts val="400"/>
              </a:spcAft>
              <a:defRPr sz="1400" b="0" i="0">
                <a:solidFill>
                  <a:srgbClr val="888888"/>
                </a:solidFill>
                <a:latin typeface="Calibri"/>
              </a:defRPr>
            </a:pPr>
            <a:r>
              <a:t>Tech Stack: Node.js • Spring Boot • MongoDB • Terraform • AKS • Helm • GitHub Actions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